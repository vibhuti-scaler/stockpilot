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29d416-7ea8-fe80-541e-d56ddc1fe868}">
          <p14:sldIdLst>
            <p14:sldId id="256"/>
            <p14:sldId id="257"/>
          </p14:sldIdLst>
        </p14:section>
        <p14:section name="Platform" id="{62c70d6d-4b72-7b86-5cde-d9847bc212d9}">
          <p14:sldIdLst>
            <p14:sldId id="258"/>
          </p14:sldIdLst>
        </p14:section>
        <p14:section name="Application" id="{b2141668-0aba-011c-c839-1d189147404f}">
          <p14:sldIdLst>
            <p14:sldId id="259"/>
            <p14:sldId id="260"/>
          </p14:sldIdLst>
        </p14:section>
        <p14:section name="Engineering" id="{404f2194-332f-6251-0583-7d23f37ba883}">
          <p14:sldIdLst>
            <p14:sldId id="261"/>
            <p14:sldId id="262"/>
            <p14:sldId id="263"/>
            <p14:sldId id="264"/>
          </p14:sldIdLst>
        </p14:section>
        <p14:section name="Infrastructure" id="{7511d3ce-9483-cede-8b56-8df12480e465}">
          <p14:sldIdLst>
            <p14:sldId id="265"/>
          </p14:sldIdLst>
        </p14:section>
        <p14:section name="Kubernetes" id="{766ab4a2-c5b1-5539-0d0f-cbcb7e332788}">
          <p14:sldIdLst>
            <p14:sldId id="266"/>
            <p14:sldId id="267"/>
          </p14:sldIdLst>
        </p14:section>
        <p14:section name="Observability" id="{ec5cbbdc-5a49-55f2-282b-645fbb2ab00e}">
          <p14:sldIdLst>
            <p14:sldId id="268"/>
          </p14:sldIdLst>
        </p14:section>
        <p14:section name="Operations" id="{5e0c910e-a022-a587-0ff9-0a2cb5901548}">
          <p14:sldIdLst>
            <p14:sldId id="269"/>
          </p14:sldIdLst>
        </p14:section>
        <p14:section name="Closing" id="{6dac31f6-e7ca-6ec0-c264-793109d8af4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StockPilot: a small inventory-management SaaS built from scratch for the capstone. The application is intentionally simple; the point is the full journey from a laptop to a monitored, autoscaled Kubernetes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entities. The business rule worth calling out: a stock movement is the only way quantity changes, and issuing more than is in stock is refused. The domain is deliberately different from the TaskBoard reference project, as the rubric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top row then bottom row. Emphasise the traceability story: the image tag is the commit SHA, there is no mutable latest tag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point: create a product, issue stock, watch the KPIs and the ledger update. Mention the Swagger UI at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Minimum for the rubric was four endpoints with GET, POST, PUT and DELETE. StockPilot has fourteen, all exercised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code → pytest fails → pipeline stops → no broken image is promoted. That is why tests run before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run as non-root users; the frontend uses the unprivileged nginx image on port 8080. Compose starts all three services with health-based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each gated on the previous one. The deploy job is defensive: without a kubeconfig secret it skips, so the pipeline stays green for classroom forks.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CVE explanation the rubric asks for. The vulnerable packages were the base image's bundled pip and setuptools, not application dependencies, and removing the installer from the runtime image was the right fix rather than suppressing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public and two private subnets across two availability zones; nodes live in the private subnets behind a single NAT gateway to keep dev costs down. The terraform test suite proves the configuration plans without needing an AWS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carries standard app.kubernetes.io labels, builds DATABASE_URL from a Secret, and includes a helm test Pod that curls health, readiness and the API through both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 the load test and watch kubectl get hpa -w. The Grafana replicas panel on the next slide shows the same 2 → 4 → 2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was captured during the HPA load test: 133 requests per second peak, p95 latency rising then recovering as replicas doubled, zero 5xx. Business metrics make the dashboard about the product, not just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were applied to the kind cluster and fixed live; the screenshots are in the README. The key lesson of scenario two: a Service selects Pods purely by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fifteen-step demo order from the brief, then the four takeaways.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4805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331720"/>
            <a:ext cx="4480560" cy="1280160"/>
          </a:xfrm>
          <a:prstGeom prst="rect">
            <a:avLst/>
          </a:prstGeom>
          <a:noFill/>
          <a:ln/>
        </p:spPr>
        <p:txBody>
          <a:bodyPr wrap="square" rtlCol="0"/>
          <a:lstStyle>
            <a:lvl1pPr algn="l" indent="0" marL="0">
              <a:buNone/>
              <a:defRPr lang="en-US" sz="1400" dirty="0">
                <a:solidFill>
                  <a:srgbClr val="CBD5E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footer"/>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94A3B8"/>
                </a:solidFill>
              </a:rPr>
              <a:t>StockPilot  ·  DevOps Final Capstone  ·  Vibhuti Bhatnagar (24bcs10288)</a:t>
            </a:r>
            <a:endParaRPr lang="en-US" sz="9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48640"/>
            <a:ext cx="4754880" cy="274320"/>
          </a:xfrm>
          <a:prstGeom prst="rect">
            <a:avLst/>
          </a:prstGeom>
          <a:noFill/>
          <a:ln/>
        </p:spPr>
        <p:txBody>
          <a:bodyPr wrap="square" lIns="0" tIns="0" rIns="0" bIns="0" rtlCol="0" anchor="ctr"/>
          <a:lstStyle/>
          <a:p>
            <a:pPr indent="0" marL="0">
              <a:buNone/>
            </a:pPr>
            <a:r>
              <a:rPr lang="en-US" sz="1100" b="1" spc="200" kern="0" dirty="0">
                <a:solidFill>
                  <a:srgbClr val="93C5FD"/>
                </a:solidFill>
              </a:rPr>
              <a:t>DEVOPS FINAL CAPSTONE  ·  SESSION 21</a:t>
            </a:r>
            <a:endParaRPr lang="en-US" sz="1100" dirty="0"/>
          </a:p>
        </p:txBody>
      </p:sp>
      <p:sp>
        <p:nvSpPr>
          <p:cNvPr id="3" name="Text 0"/>
          <p:cNvSpPr/>
          <p:nvPr>
            <p:ph idx="100" type="title" hasCustomPrompt="1"/>
          </p:nvPr>
        </p:nvSpPr>
        <p:spPr>
          <a:xfrm>
            <a:off x="548640" y="1097280"/>
            <a:ext cx="4480560" cy="1097280"/>
          </a:xfrm>
          <a:prstGeom prst="rect">
            <a:avLst/>
          </a:prstGeom>
          <a:noFill/>
          <a:ln/>
        </p:spPr>
        <p:txBody>
          <a:bodyPr wrap="square" lIns="0" tIns="0" rIns="0" bIns="0" rtlCol="0" anchor="b"/>
          <a:lstStyle/>
          <a:p>
            <a:pPr algn="l" indent="0" marL="0">
              <a:buNone/>
            </a:pPr>
            <a:r>
              <a:rPr lang="en-US" sz="4000" b="1" dirty="0">
                <a:solidFill>
                  <a:schemeClr val="bg1"/>
                </a:solidFill>
              </a:rPr>
              <a:t>StockPilot</a:t>
            </a:r>
            <a:endParaRPr lang="en-US" sz="4000" dirty="0"/>
          </a:p>
        </p:txBody>
      </p:sp>
      <p:sp>
        <p:nvSpPr>
          <p:cNvPr id="4" name="Text 0"/>
          <p:cNvSpPr/>
          <p:nvPr>
            <p:ph idx="101" type="body" hasCustomPrompt="1"/>
          </p:nvPr>
        </p:nvSpPr>
        <p:spPr>
          <a:xfrm>
            <a:off x="548640" y="2331720"/>
            <a:ext cx="4480560" cy="1280160"/>
          </a:xfrm>
          <a:prstGeom prst="rect">
            <a:avLst/>
          </a:prstGeom>
          <a:noFill/>
          <a:ln/>
        </p:spPr>
        <p:txBody>
          <a:bodyPr wrap="square" lIns="0" tIns="0" rIns="0" bIns="0" rtlCol="0" anchor="t"/>
          <a:lstStyle/>
          <a:p>
            <a:pPr algn="l" indent="0" marL="0">
              <a:buNone/>
            </a:pPr>
            <a:r>
              <a:rPr lang="en-US" sz="1400" dirty="0">
                <a:solidFill>
                  <a:srgbClr val="CBD5E1"/>
                </a:solidFill>
              </a:rPr>
              <a:t>Inventory management delivered on a production-style DevOps platform: Git → CI/CD → Trivy → GHCR → Terraform/EKS → Helm → Kubernetes → Prometheus &amp; Grafana</a:t>
            </a:r>
            <a:endParaRPr lang="en-US" sz="1400" dirty="0"/>
          </a:p>
        </p:txBody>
      </p:sp>
      <p:sp>
        <p:nvSpPr>
          <p:cNvPr id="5" name="author-card"/>
          <p:cNvSpPr/>
          <p:nvPr/>
        </p:nvSpPr>
        <p:spPr>
          <a:xfrm>
            <a:off x="548640" y="3840480"/>
            <a:ext cx="4206240" cy="731520"/>
          </a:xfrm>
          <a:prstGeom prst="roundRect">
            <a:avLst>
              <a:gd name="adj" fmla="val 12500"/>
            </a:avLst>
          </a:prstGeom>
          <a:solidFill>
            <a:srgbClr val="1E293B"/>
          </a:solidFill>
          <a:ln w="12700">
            <a:solidFill>
              <a:srgbClr val="1E293B"/>
            </a:solidFill>
            <a:prstDash val="solid"/>
          </a:ln>
        </p:spPr>
      </p:sp>
      <p:sp>
        <p:nvSpPr>
          <p:cNvPr id="6" name="author"/>
          <p:cNvSpPr txBox="1"/>
          <p:nvPr/>
        </p:nvSpPr>
        <p:spPr>
          <a:xfrm>
            <a:off x="731520" y="3886200"/>
            <a:ext cx="3840480" cy="640080"/>
          </a:xfrm>
          <a:prstGeom prst="rect">
            <a:avLst/>
          </a:prstGeom>
          <a:noFill/>
          <a:ln/>
        </p:spPr>
        <p:txBody>
          <a:bodyPr wrap="square" lIns="0" tIns="0" rIns="0" bIns="0" rtlCol="0" anchor="ctr"/>
          <a:lstStyle/>
          <a:p>
            <a:pPr indent="0" marL="0">
              <a:buNone/>
            </a:pPr>
            <a:r>
              <a:rPr lang="en-US" sz="1600" b="1" dirty="0">
                <a:solidFill>
                  <a:schemeClr val="bg1"/>
                </a:solidFill>
              </a:rPr>
              <a:t>Vibhuti Bhatnagar</a:t>
            </a:r>
            <a:endParaRPr lang="en-US" sz="1600" dirty="0"/>
          </a:p>
          <a:p>
            <a:pPr indent="0" marL="0">
              <a:buNone/>
            </a:pPr>
            <a:r>
              <a:rPr lang="en-US" sz="1200" dirty="0">
                <a:solidFill>
                  <a:srgbClr val="94A3B8"/>
                </a:solidFill>
              </a:rPr>
              <a:t>Roll No 24bcs10288</a:t>
            </a:r>
            <a:endParaRPr lang="en-US" sz="1600" dirty="0"/>
          </a:p>
        </p:txBody>
      </p:sp>
      <p:pic>
        <p:nvPicPr>
          <p:cNvPr id="7" name="title-dashboard" descr="/Users/vibhutibhatnagar/Desktop/SST STUDY/DEVOPS CAPSTONE PROJECT/docs/screenshots/01-dashboard.png">    </p:cNvPr>
          <p:cNvPicPr>
            <a:picLocks noChangeAspect="1"/>
          </p:cNvPicPr>
          <p:nvPr/>
        </p:nvPicPr>
        <p:blipFill>
          <a:blip r:embed="rId1"/>
          <a:stretch>
            <a:fillRect/>
          </a:stretch>
        </p:blipFill>
        <p:spPr>
          <a:xfrm>
            <a:off x="5212080" y="1234440"/>
            <a:ext cx="3657600" cy="2286000"/>
          </a:xfrm>
          <a:prstGeom prst="rect">
            <a:avLst/>
          </a:prstGeom>
          <a:effectLst>
            <a:outerShdw sx="100000" sy="100000" kx="0" ky="0" algn="bl" rotWithShape="0" blurRad="101600" dist="38100" dir="5400000">
              <a:srgbClr val="000000">
                <a:alpha val="2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What StockPilot does</a:t>
            </a:r>
            <a:endParaRPr lang="en-US" sz="2600" dirty="0"/>
          </a:p>
        </p:txBody>
      </p:sp>
      <p:sp>
        <p:nvSpPr>
          <p:cNvPr id="3" name="card-Products"/>
          <p:cNvSpPr/>
          <p:nvPr/>
        </p:nvSpPr>
        <p:spPr>
          <a:xfrm>
            <a:off x="457200" y="1143000"/>
            <a:ext cx="2651760" cy="1828800"/>
          </a:xfrm>
          <a:prstGeom prst="roundRect">
            <a:avLst>
              <a:gd name="adj" fmla="val 6000"/>
            </a:avLst>
          </a:prstGeom>
          <a:solidFill>
            <a:srgbClr val="EEF2F8"/>
          </a:solidFill>
          <a:ln w="12700">
            <a:solidFill>
              <a:srgbClr val="EEF2F8"/>
            </a:solidFill>
            <a:prstDash val="solid"/>
          </a:ln>
        </p:spPr>
      </p:sp>
      <p:sp>
        <p:nvSpPr>
          <p:cNvPr id="4" name="icon-bg-box"/>
          <p:cNvSpPr/>
          <p:nvPr/>
        </p:nvSpPr>
        <p:spPr>
          <a:xfrm>
            <a:off x="640080" y="1325880"/>
            <a:ext cx="457200" cy="457200"/>
          </a:xfrm>
          <a:prstGeom prst="ellipse">
            <a:avLst/>
          </a:prstGeom>
          <a:solidFill>
            <a:srgbClr val="2563EB"/>
          </a:solidFill>
          <a:ln w="12700">
            <a:solidFill>
              <a:srgbClr val="2563EB"/>
            </a:solidFill>
            <a:prstDash val="solid"/>
          </a:ln>
        </p:spPr>
      </p:sp>
      <p:pic>
        <p:nvPicPr>
          <p:cNvPr id="5" name="icon-box"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card-title-Products"/>
          <p:cNvSpPr txBox="1"/>
          <p:nvPr/>
        </p:nvSpPr>
        <p:spPr>
          <a:xfrm>
            <a:off x="1234440" y="132588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Products</a:t>
            </a:r>
            <a:endParaRPr lang="en-US" sz="1400" dirty="0"/>
          </a:p>
        </p:txBody>
      </p:sp>
      <p:sp>
        <p:nvSpPr>
          <p:cNvPr id="7" name="card-body-Products"/>
          <p:cNvSpPr txBox="1"/>
          <p:nvPr/>
        </p:nvSpPr>
        <p:spPr>
          <a:xfrm>
            <a:off x="640080" y="1874520"/>
            <a:ext cx="2286000" cy="960120"/>
          </a:xfrm>
          <a:prstGeom prst="rect">
            <a:avLst/>
          </a:prstGeom>
          <a:noFill/>
          <a:ln/>
        </p:spPr>
        <p:txBody>
          <a:bodyPr wrap="square" lIns="0" tIns="0" rIns="0" bIns="0" rtlCol="0" anchor="t"/>
          <a:lstStyle/>
          <a:p>
            <a:pPr indent="0" marL="0">
              <a:spcAft>
                <a:spcPts val="400"/>
              </a:spcAft>
              <a:buNone/>
            </a:pPr>
            <a:r>
              <a:rPr lang="en-US" sz="1200" dirty="0">
                <a:solidFill>
                  <a:srgbClr val="334155"/>
                </a:solidFill>
              </a:rPr>
              <a:t>SKU, category, quantity on hand, reorder level, unit price. Derived status: In stock · Low stock · Out of stock.</a:t>
            </a:r>
            <a:endParaRPr lang="en-US" sz="1200" dirty="0"/>
          </a:p>
        </p:txBody>
      </p:sp>
      <p:sp>
        <p:nvSpPr>
          <p:cNvPr id="8" name="card-Suppliers"/>
          <p:cNvSpPr/>
          <p:nvPr/>
        </p:nvSpPr>
        <p:spPr>
          <a:xfrm>
            <a:off x="3246120" y="1143000"/>
            <a:ext cx="2651760" cy="1828800"/>
          </a:xfrm>
          <a:prstGeom prst="roundRect">
            <a:avLst>
              <a:gd name="adj" fmla="val 6000"/>
            </a:avLst>
          </a:prstGeom>
          <a:solidFill>
            <a:srgbClr val="EEF2F8"/>
          </a:solidFill>
          <a:ln w="12700">
            <a:solidFill>
              <a:srgbClr val="EEF2F8"/>
            </a:solidFill>
            <a:prstDash val="solid"/>
          </a:ln>
        </p:spPr>
      </p:sp>
      <p:sp>
        <p:nvSpPr>
          <p:cNvPr id="9" name="icon-bg-truck"/>
          <p:cNvSpPr/>
          <p:nvPr/>
        </p:nvSpPr>
        <p:spPr>
          <a:xfrm>
            <a:off x="3429000" y="1325880"/>
            <a:ext cx="457200" cy="457200"/>
          </a:xfrm>
          <a:prstGeom prst="ellipse">
            <a:avLst/>
          </a:prstGeom>
          <a:solidFill>
            <a:srgbClr val="0891B2"/>
          </a:solidFill>
          <a:ln w="12700">
            <a:solidFill>
              <a:srgbClr val="0891B2"/>
            </a:solidFill>
            <a:prstDash val="solid"/>
          </a:ln>
        </p:spPr>
      </p:sp>
      <p:pic>
        <p:nvPicPr>
          <p:cNvPr id="10" name="icon-truck"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1" name="card-title-Suppliers"/>
          <p:cNvSpPr txBox="1"/>
          <p:nvPr/>
        </p:nvSpPr>
        <p:spPr>
          <a:xfrm>
            <a:off x="4023360" y="132588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Suppliers</a:t>
            </a:r>
            <a:endParaRPr lang="en-US" sz="1400" dirty="0"/>
          </a:p>
        </p:txBody>
      </p:sp>
      <p:sp>
        <p:nvSpPr>
          <p:cNvPr id="12" name="card-body-Suppliers"/>
          <p:cNvSpPr txBox="1"/>
          <p:nvPr/>
        </p:nvSpPr>
        <p:spPr>
          <a:xfrm>
            <a:off x="3429000" y="1874520"/>
            <a:ext cx="2286000" cy="960120"/>
          </a:xfrm>
          <a:prstGeom prst="rect">
            <a:avLst/>
          </a:prstGeom>
          <a:noFill/>
          <a:ln/>
        </p:spPr>
        <p:txBody>
          <a:bodyPr wrap="square" lIns="0" tIns="0" rIns="0" bIns="0" rtlCol="0" anchor="t"/>
          <a:lstStyle/>
          <a:p>
            <a:pPr indent="0" marL="0">
              <a:spcAft>
                <a:spcPts val="400"/>
              </a:spcAft>
              <a:buNone/>
            </a:pPr>
            <a:r>
              <a:rPr lang="en-US" sz="1200" dirty="0">
                <a:solidFill>
                  <a:srgbClr val="334155"/>
                </a:solidFill>
              </a:rPr>
              <a:t>Vendors with contact, phone and city. Deleting a supplier detaches its products instead of deleting them.</a:t>
            </a:r>
            <a:endParaRPr lang="en-US" sz="1200" dirty="0"/>
          </a:p>
        </p:txBody>
      </p:sp>
      <p:sp>
        <p:nvSpPr>
          <p:cNvPr id="13" name="card-Stock movements"/>
          <p:cNvSpPr/>
          <p:nvPr/>
        </p:nvSpPr>
        <p:spPr>
          <a:xfrm>
            <a:off x="6035040" y="1143000"/>
            <a:ext cx="2651760" cy="1828800"/>
          </a:xfrm>
          <a:prstGeom prst="roundRect">
            <a:avLst>
              <a:gd name="adj" fmla="val 6000"/>
            </a:avLst>
          </a:prstGeom>
          <a:solidFill>
            <a:srgbClr val="EEF2F8"/>
          </a:solidFill>
          <a:ln w="12700">
            <a:solidFill>
              <a:srgbClr val="EEF2F8"/>
            </a:solidFill>
            <a:prstDash val="solid"/>
          </a:ln>
        </p:spPr>
      </p:sp>
      <p:sp>
        <p:nvSpPr>
          <p:cNvPr id="14" name="icon-bg-swap"/>
          <p:cNvSpPr/>
          <p:nvPr/>
        </p:nvSpPr>
        <p:spPr>
          <a:xfrm>
            <a:off x="6217920" y="1325880"/>
            <a:ext cx="457200" cy="457200"/>
          </a:xfrm>
          <a:prstGeom prst="ellipse">
            <a:avLst/>
          </a:prstGeom>
          <a:solidFill>
            <a:srgbClr val="D97706"/>
          </a:solidFill>
          <a:ln w="12700">
            <a:solidFill>
              <a:srgbClr val="D97706"/>
            </a:solidFill>
            <a:prstDash val="solid"/>
          </a:ln>
        </p:spPr>
      </p:sp>
      <p:pic>
        <p:nvPicPr>
          <p:cNvPr id="15" name="icon-swap" descr="preencoded.png">    </p:cNvPr>
          <p:cNvPicPr>
            <a:picLocks noChangeAspect="1"/>
          </p:cNvPicPr>
          <p:nvPr/>
        </p:nvPicPr>
        <p:blipFill>
          <a:blip r:embed="rId3"/>
          <a:stretch>
            <a:fillRect/>
          </a:stretch>
        </p:blipFill>
        <p:spPr>
          <a:xfrm>
            <a:off x="6332220" y="1440180"/>
            <a:ext cx="228600" cy="228600"/>
          </a:xfrm>
          <a:prstGeom prst="rect">
            <a:avLst/>
          </a:prstGeom>
        </p:spPr>
      </p:pic>
      <p:sp>
        <p:nvSpPr>
          <p:cNvPr id="16" name="card-title-Stock movements"/>
          <p:cNvSpPr txBox="1"/>
          <p:nvPr/>
        </p:nvSpPr>
        <p:spPr>
          <a:xfrm>
            <a:off x="6812280" y="1325880"/>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Stock movements</a:t>
            </a:r>
            <a:endParaRPr lang="en-US" sz="1400" dirty="0"/>
          </a:p>
        </p:txBody>
      </p:sp>
      <p:sp>
        <p:nvSpPr>
          <p:cNvPr id="17" name="card-body-Stock movements"/>
          <p:cNvSpPr txBox="1"/>
          <p:nvPr/>
        </p:nvSpPr>
        <p:spPr>
          <a:xfrm>
            <a:off x="6217920" y="1874520"/>
            <a:ext cx="2286000" cy="960120"/>
          </a:xfrm>
          <a:prstGeom prst="rect">
            <a:avLst/>
          </a:prstGeom>
          <a:noFill/>
          <a:ln/>
        </p:spPr>
        <p:txBody>
          <a:bodyPr wrap="square" lIns="0" tIns="0" rIns="0" bIns="0" rtlCol="0" anchor="t"/>
          <a:lstStyle/>
          <a:p>
            <a:pPr indent="0" marL="0">
              <a:spcAft>
                <a:spcPts val="400"/>
              </a:spcAft>
              <a:buNone/>
            </a:pPr>
            <a:r>
              <a:rPr lang="en-US" sz="1200" dirty="0">
                <a:solidFill>
                  <a:srgbClr val="334155"/>
                </a:solidFill>
              </a:rPr>
              <a:t>Append-only ledger of goods received (IN) and issued (OUT). Atomically updates quantity; over-issuing is rejected with 409.</a:t>
            </a:r>
            <a:endParaRPr lang="en-US" sz="1200" dirty="0"/>
          </a:p>
        </p:txBody>
      </p:sp>
      <p:sp>
        <p:nvSpPr>
          <p:cNvPr id="18" name="stat-REST endpoints"/>
          <p:cNvSpPr txBox="1"/>
          <p:nvPr/>
        </p:nvSpPr>
        <p:spPr>
          <a:xfrm>
            <a:off x="457200" y="3246120"/>
            <a:ext cx="2011680" cy="685800"/>
          </a:xfrm>
          <a:prstGeom prst="rect">
            <a:avLst/>
          </a:prstGeom>
          <a:noFill/>
          <a:ln/>
        </p:spPr>
        <p:txBody>
          <a:bodyPr wrap="square" lIns="0" tIns="0" rIns="0" bIns="0" rtlCol="0" anchor="ctr"/>
          <a:lstStyle/>
          <a:p>
            <a:pPr algn="l" indent="0" marL="0">
              <a:buNone/>
            </a:pPr>
            <a:r>
              <a:rPr lang="en-US" sz="3600" b="1" dirty="0">
                <a:solidFill>
                  <a:schemeClr val="accent1"/>
                </a:solidFill>
              </a:rPr>
              <a:t>14</a:t>
            </a:r>
            <a:endParaRPr lang="en-US" sz="3600" dirty="0"/>
          </a:p>
        </p:txBody>
      </p:sp>
      <p:sp>
        <p:nvSpPr>
          <p:cNvPr id="19" name="stat-label-REST endpoints"/>
          <p:cNvSpPr txBox="1"/>
          <p:nvPr/>
        </p:nvSpPr>
        <p:spPr>
          <a:xfrm>
            <a:off x="457200" y="3904488"/>
            <a:ext cx="2011680" cy="320040"/>
          </a:xfrm>
          <a:prstGeom prst="rect">
            <a:avLst/>
          </a:prstGeom>
          <a:noFill/>
          <a:ln/>
        </p:spPr>
        <p:txBody>
          <a:bodyPr wrap="square" lIns="0" tIns="0" rIns="0" bIns="0" rtlCol="0" anchor="ctr"/>
          <a:lstStyle/>
          <a:p>
            <a:pPr indent="0" marL="0">
              <a:buNone/>
            </a:pPr>
            <a:r>
              <a:rPr lang="en-US" sz="1100" dirty="0">
                <a:solidFill>
                  <a:srgbClr val="64748B"/>
                </a:solidFill>
              </a:rPr>
              <a:t>REST endpoints</a:t>
            </a:r>
            <a:endParaRPr lang="en-US" sz="1100" dirty="0"/>
          </a:p>
        </p:txBody>
      </p:sp>
      <p:sp>
        <p:nvSpPr>
          <p:cNvPr id="20" name="stat-PostgreSQL tables · 2 Alembic migrations"/>
          <p:cNvSpPr txBox="1"/>
          <p:nvPr/>
        </p:nvSpPr>
        <p:spPr>
          <a:xfrm>
            <a:off x="2560320" y="3246120"/>
            <a:ext cx="2011680" cy="685800"/>
          </a:xfrm>
          <a:prstGeom prst="rect">
            <a:avLst/>
          </a:prstGeom>
          <a:noFill/>
          <a:ln/>
        </p:spPr>
        <p:txBody>
          <a:bodyPr wrap="square" lIns="0" tIns="0" rIns="0" bIns="0" rtlCol="0" anchor="ctr"/>
          <a:lstStyle/>
          <a:p>
            <a:pPr algn="l" indent="0" marL="0">
              <a:buNone/>
            </a:pPr>
            <a:r>
              <a:rPr lang="en-US" sz="3600" b="1" dirty="0">
                <a:solidFill>
                  <a:schemeClr val="accent1"/>
                </a:solidFill>
              </a:rPr>
              <a:t>3</a:t>
            </a:r>
            <a:endParaRPr lang="en-US" sz="3600" dirty="0"/>
          </a:p>
        </p:txBody>
      </p:sp>
      <p:sp>
        <p:nvSpPr>
          <p:cNvPr id="21" name="stat-label-PostgreSQL tables · 2 Alembic migrations"/>
          <p:cNvSpPr txBox="1"/>
          <p:nvPr/>
        </p:nvSpPr>
        <p:spPr>
          <a:xfrm>
            <a:off x="2560320" y="3904488"/>
            <a:ext cx="2011680" cy="320040"/>
          </a:xfrm>
          <a:prstGeom prst="rect">
            <a:avLst/>
          </a:prstGeom>
          <a:noFill/>
          <a:ln/>
        </p:spPr>
        <p:txBody>
          <a:bodyPr wrap="square" lIns="0" tIns="0" rIns="0" bIns="0" rtlCol="0" anchor="ctr"/>
          <a:lstStyle/>
          <a:p>
            <a:pPr indent="0" marL="0">
              <a:buNone/>
            </a:pPr>
            <a:r>
              <a:rPr lang="en-US" sz="1100" dirty="0">
                <a:solidFill>
                  <a:srgbClr val="64748B"/>
                </a:solidFill>
              </a:rPr>
              <a:t>PostgreSQL tables · 2 Alembic migrations</a:t>
            </a:r>
            <a:endParaRPr lang="en-US" sz="1100" dirty="0"/>
          </a:p>
        </p:txBody>
      </p:sp>
      <p:sp>
        <p:nvSpPr>
          <p:cNvPr id="22" name="stat-automated tests (pytest)"/>
          <p:cNvSpPr txBox="1"/>
          <p:nvPr/>
        </p:nvSpPr>
        <p:spPr>
          <a:xfrm>
            <a:off x="4663440" y="3246120"/>
            <a:ext cx="2011680" cy="685800"/>
          </a:xfrm>
          <a:prstGeom prst="rect">
            <a:avLst/>
          </a:prstGeom>
          <a:noFill/>
          <a:ln/>
        </p:spPr>
        <p:txBody>
          <a:bodyPr wrap="square" lIns="0" tIns="0" rIns="0" bIns="0" rtlCol="0" anchor="ctr"/>
          <a:lstStyle/>
          <a:p>
            <a:pPr algn="l" indent="0" marL="0">
              <a:buNone/>
            </a:pPr>
            <a:r>
              <a:rPr lang="en-US" sz="3600" b="1" dirty="0">
                <a:solidFill>
                  <a:schemeClr val="accent1"/>
                </a:solidFill>
              </a:rPr>
              <a:t>28</a:t>
            </a:r>
            <a:endParaRPr lang="en-US" sz="3600" dirty="0"/>
          </a:p>
        </p:txBody>
      </p:sp>
      <p:sp>
        <p:nvSpPr>
          <p:cNvPr id="23" name="stat-label-automated tests (pytest)"/>
          <p:cNvSpPr txBox="1"/>
          <p:nvPr/>
        </p:nvSpPr>
        <p:spPr>
          <a:xfrm>
            <a:off x="4663440" y="3904488"/>
            <a:ext cx="2011680" cy="320040"/>
          </a:xfrm>
          <a:prstGeom prst="rect">
            <a:avLst/>
          </a:prstGeom>
          <a:noFill/>
          <a:ln/>
        </p:spPr>
        <p:txBody>
          <a:bodyPr wrap="square" lIns="0" tIns="0" rIns="0" bIns="0" rtlCol="0" anchor="ctr"/>
          <a:lstStyle/>
          <a:p>
            <a:pPr indent="0" marL="0">
              <a:buNone/>
            </a:pPr>
            <a:r>
              <a:rPr lang="en-US" sz="1100" dirty="0">
                <a:solidFill>
                  <a:srgbClr val="64748B"/>
                </a:solidFill>
              </a:rPr>
              <a:t>automated tests (pytest)</a:t>
            </a:r>
            <a:endParaRPr lang="en-US" sz="1100" dirty="0"/>
          </a:p>
        </p:txBody>
      </p:sp>
      <p:sp>
        <p:nvSpPr>
          <p:cNvPr id="24" name="stat-dashboard views, responsive to phone width"/>
          <p:cNvSpPr txBox="1"/>
          <p:nvPr/>
        </p:nvSpPr>
        <p:spPr>
          <a:xfrm>
            <a:off x="6766560" y="3246120"/>
            <a:ext cx="2011680" cy="685800"/>
          </a:xfrm>
          <a:prstGeom prst="rect">
            <a:avLst/>
          </a:prstGeom>
          <a:noFill/>
          <a:ln/>
        </p:spPr>
        <p:txBody>
          <a:bodyPr wrap="square" lIns="0" tIns="0" rIns="0" bIns="0" rtlCol="0" anchor="ctr"/>
          <a:lstStyle/>
          <a:p>
            <a:pPr algn="l" indent="0" marL="0">
              <a:buNone/>
            </a:pPr>
            <a:r>
              <a:rPr lang="en-US" sz="3600" b="1" dirty="0">
                <a:solidFill>
                  <a:schemeClr val="accent1"/>
                </a:solidFill>
              </a:rPr>
              <a:t>4</a:t>
            </a:r>
            <a:endParaRPr lang="en-US" sz="3600" dirty="0"/>
          </a:p>
        </p:txBody>
      </p:sp>
      <p:sp>
        <p:nvSpPr>
          <p:cNvPr id="25" name="stat-label-dashboard views, responsive to phone width"/>
          <p:cNvSpPr txBox="1"/>
          <p:nvPr/>
        </p:nvSpPr>
        <p:spPr>
          <a:xfrm>
            <a:off x="6766560" y="3904488"/>
            <a:ext cx="2011680" cy="320040"/>
          </a:xfrm>
          <a:prstGeom prst="rect">
            <a:avLst/>
          </a:prstGeom>
          <a:noFill/>
          <a:ln/>
        </p:spPr>
        <p:txBody>
          <a:bodyPr wrap="square" lIns="0" tIns="0" rIns="0" bIns="0" rtlCol="0" anchor="ctr"/>
          <a:lstStyle/>
          <a:p>
            <a:pPr indent="0" marL="0">
              <a:buNone/>
            </a:pPr>
            <a:r>
              <a:rPr lang="en-US" sz="1100" dirty="0">
                <a:solidFill>
                  <a:srgbClr val="64748B"/>
                </a:solidFill>
              </a:rPr>
              <a:t>dashboard views, responsive to phone width</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From a laptop to a monitored cluster</a:t>
            </a:r>
            <a:endParaRPr lang="en-US" sz="2600" dirty="0"/>
          </a:p>
        </p:txBody>
      </p:sp>
      <p:sp>
        <p:nvSpPr>
          <p:cNvPr id="3" name="step-0"/>
          <p:cNvSpPr/>
          <p:nvPr/>
        </p:nvSpPr>
        <p:spPr>
          <a:xfrm>
            <a:off x="457200" y="1188720"/>
            <a:ext cx="1874520" cy="1325880"/>
          </a:xfrm>
          <a:prstGeom prst="roundRect">
            <a:avLst>
              <a:gd name="adj" fmla="val 6897"/>
            </a:avLst>
          </a:prstGeom>
          <a:solidFill>
            <a:srgbClr val="EEF2F8"/>
          </a:solidFill>
          <a:ln w="12700">
            <a:solidFill>
              <a:srgbClr val="EEF2F8"/>
            </a:solidFill>
            <a:prstDash val="solid"/>
          </a:ln>
        </p:spPr>
      </p:sp>
      <p:sp>
        <p:nvSpPr>
          <p:cNvPr id="4" name="icon-bg-git"/>
          <p:cNvSpPr/>
          <p:nvPr/>
        </p:nvSpPr>
        <p:spPr>
          <a:xfrm>
            <a:off x="594360" y="1325880"/>
            <a:ext cx="457200" cy="457200"/>
          </a:xfrm>
          <a:prstGeom prst="ellipse">
            <a:avLst/>
          </a:prstGeom>
          <a:solidFill>
            <a:srgbClr val="1E3A8A"/>
          </a:solidFill>
          <a:ln w="12700">
            <a:solidFill>
              <a:srgbClr val="1E3A8A"/>
            </a:solidFill>
            <a:prstDash val="solid"/>
          </a:ln>
        </p:spPr>
      </p:sp>
      <p:pic>
        <p:nvPicPr>
          <p:cNvPr id="5" name="icon-git" descr="preencoded.png">    </p:cNvPr>
          <p:cNvPicPr>
            <a:picLocks noChangeAspect="1"/>
          </p:cNvPicPr>
          <p:nvPr/>
        </p:nvPicPr>
        <p:blipFill>
          <a:blip r:embed="rId1"/>
          <a:stretch>
            <a:fillRect/>
          </a:stretch>
        </p:blipFill>
        <p:spPr>
          <a:xfrm>
            <a:off x="708660" y="1440180"/>
            <a:ext cx="228600" cy="228600"/>
          </a:xfrm>
          <a:prstGeom prst="rect">
            <a:avLst/>
          </a:prstGeom>
        </p:spPr>
      </p:pic>
      <p:sp>
        <p:nvSpPr>
          <p:cNvPr id="6" name="step-title-0"/>
          <p:cNvSpPr txBox="1"/>
          <p:nvPr/>
        </p:nvSpPr>
        <p:spPr>
          <a:xfrm>
            <a:off x="1143000" y="132588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Git / GitHub</a:t>
            </a:r>
            <a:endParaRPr lang="en-US" sz="1200" dirty="0"/>
          </a:p>
        </p:txBody>
      </p:sp>
      <p:sp>
        <p:nvSpPr>
          <p:cNvPr id="7" name="step-body-0"/>
          <p:cNvSpPr txBox="1"/>
          <p:nvPr/>
        </p:nvSpPr>
        <p:spPr>
          <a:xfrm>
            <a:off x="594360" y="1874520"/>
            <a:ext cx="1645920" cy="548640"/>
          </a:xfrm>
          <a:prstGeom prst="rect">
            <a:avLst/>
          </a:prstGeom>
          <a:noFill/>
          <a:ln/>
        </p:spPr>
        <p:txBody>
          <a:bodyPr wrap="square" lIns="0" tIns="0" rIns="0" bIns="0" rtlCol="0" anchor="t"/>
          <a:lstStyle/>
          <a:p>
            <a:pPr indent="0" marL="0">
              <a:buNone/>
            </a:pPr>
            <a:r>
              <a:rPr lang="en-US" sz="1100" dirty="0">
                <a:solidFill>
                  <a:srgbClr val="475569"/>
                </a:solidFill>
              </a:rPr>
              <a:t>source of truth</a:t>
            </a:r>
            <a:endParaRPr lang="en-US" sz="1100" dirty="0"/>
          </a:p>
        </p:txBody>
      </p:sp>
      <p:sp>
        <p:nvSpPr>
          <p:cNvPr id="8" name="arrow-0"/>
          <p:cNvSpPr/>
          <p:nvPr/>
        </p:nvSpPr>
        <p:spPr>
          <a:xfrm>
            <a:off x="2331720" y="1719072"/>
            <a:ext cx="274320" cy="274320"/>
          </a:xfrm>
          <a:prstGeom prst="rightArrow">
            <a:avLst/>
          </a:prstGeom>
          <a:solidFill>
            <a:srgbClr val="94A3B8"/>
          </a:solidFill>
          <a:ln w="12700">
            <a:solidFill>
              <a:srgbClr val="94A3B8"/>
            </a:solidFill>
            <a:prstDash val="solid"/>
          </a:ln>
        </p:spPr>
      </p:sp>
      <p:sp>
        <p:nvSpPr>
          <p:cNvPr id="9" name="step-1"/>
          <p:cNvSpPr/>
          <p:nvPr/>
        </p:nvSpPr>
        <p:spPr>
          <a:xfrm>
            <a:off x="2606040" y="1188720"/>
            <a:ext cx="1874520" cy="1325880"/>
          </a:xfrm>
          <a:prstGeom prst="roundRect">
            <a:avLst>
              <a:gd name="adj" fmla="val 6897"/>
            </a:avLst>
          </a:prstGeom>
          <a:solidFill>
            <a:srgbClr val="EEF2F8"/>
          </a:solidFill>
          <a:ln w="12700">
            <a:solidFill>
              <a:srgbClr val="EEF2F8"/>
            </a:solidFill>
            <a:prstDash val="solid"/>
          </a:ln>
        </p:spPr>
      </p:sp>
      <p:sp>
        <p:nvSpPr>
          <p:cNvPr id="10" name="icon-bg-test"/>
          <p:cNvSpPr/>
          <p:nvPr/>
        </p:nvSpPr>
        <p:spPr>
          <a:xfrm>
            <a:off x="2743200" y="1325880"/>
            <a:ext cx="457200" cy="457200"/>
          </a:xfrm>
          <a:prstGeom prst="ellipse">
            <a:avLst/>
          </a:prstGeom>
          <a:solidFill>
            <a:srgbClr val="2563EB"/>
          </a:solidFill>
          <a:ln w="12700">
            <a:solidFill>
              <a:srgbClr val="2563EB"/>
            </a:solidFill>
            <a:prstDash val="solid"/>
          </a:ln>
        </p:spPr>
      </p:sp>
      <p:pic>
        <p:nvPicPr>
          <p:cNvPr id="11" name="icon-test" descr="preencoded.png">    </p:cNvPr>
          <p:cNvPicPr>
            <a:picLocks noChangeAspect="1"/>
          </p:cNvPicPr>
          <p:nvPr/>
        </p:nvPicPr>
        <p:blipFill>
          <a:blip r:embed="rId2"/>
          <a:stretch>
            <a:fillRect/>
          </a:stretch>
        </p:blipFill>
        <p:spPr>
          <a:xfrm>
            <a:off x="2857500" y="1440180"/>
            <a:ext cx="228600" cy="228600"/>
          </a:xfrm>
          <a:prstGeom prst="rect">
            <a:avLst/>
          </a:prstGeom>
        </p:spPr>
      </p:pic>
      <p:sp>
        <p:nvSpPr>
          <p:cNvPr id="12" name="step-title-1"/>
          <p:cNvSpPr txBox="1"/>
          <p:nvPr/>
        </p:nvSpPr>
        <p:spPr>
          <a:xfrm>
            <a:off x="3291840" y="132588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GitHub Actions</a:t>
            </a:r>
            <a:endParaRPr lang="en-US" sz="1200" dirty="0"/>
          </a:p>
        </p:txBody>
      </p:sp>
      <p:sp>
        <p:nvSpPr>
          <p:cNvPr id="13" name="step-body-1"/>
          <p:cNvSpPr txBox="1"/>
          <p:nvPr/>
        </p:nvSpPr>
        <p:spPr>
          <a:xfrm>
            <a:off x="2743200" y="1874520"/>
            <a:ext cx="1645920" cy="548640"/>
          </a:xfrm>
          <a:prstGeom prst="rect">
            <a:avLst/>
          </a:prstGeom>
          <a:noFill/>
          <a:ln/>
        </p:spPr>
        <p:txBody>
          <a:bodyPr wrap="square" lIns="0" tIns="0" rIns="0" bIns="0" rtlCol="0" anchor="t"/>
          <a:lstStyle/>
          <a:p>
            <a:pPr indent="0" marL="0">
              <a:buNone/>
            </a:pPr>
            <a:r>
              <a:rPr lang="en-US" sz="1100" dirty="0">
                <a:solidFill>
                  <a:srgbClr val="475569"/>
                </a:solidFill>
              </a:rPr>
              <a:t>ruff · pytest · npm build</a:t>
            </a:r>
            <a:endParaRPr lang="en-US" sz="1100" dirty="0"/>
          </a:p>
        </p:txBody>
      </p:sp>
      <p:sp>
        <p:nvSpPr>
          <p:cNvPr id="14" name="arrow-1"/>
          <p:cNvSpPr/>
          <p:nvPr/>
        </p:nvSpPr>
        <p:spPr>
          <a:xfrm>
            <a:off x="4480560" y="1719072"/>
            <a:ext cx="274320" cy="274320"/>
          </a:xfrm>
          <a:prstGeom prst="rightArrow">
            <a:avLst/>
          </a:prstGeom>
          <a:solidFill>
            <a:srgbClr val="94A3B8"/>
          </a:solidFill>
          <a:ln w="12700">
            <a:solidFill>
              <a:srgbClr val="94A3B8"/>
            </a:solidFill>
            <a:prstDash val="solid"/>
          </a:ln>
        </p:spPr>
      </p:sp>
      <p:sp>
        <p:nvSpPr>
          <p:cNvPr id="15" name="step-2"/>
          <p:cNvSpPr/>
          <p:nvPr/>
        </p:nvSpPr>
        <p:spPr>
          <a:xfrm>
            <a:off x="4754880" y="1188720"/>
            <a:ext cx="1874520" cy="1325880"/>
          </a:xfrm>
          <a:prstGeom prst="roundRect">
            <a:avLst>
              <a:gd name="adj" fmla="val 6897"/>
            </a:avLst>
          </a:prstGeom>
          <a:solidFill>
            <a:srgbClr val="EEF2F8"/>
          </a:solidFill>
          <a:ln w="12700">
            <a:solidFill>
              <a:srgbClr val="EEF2F8"/>
            </a:solidFill>
            <a:prstDash val="solid"/>
          </a:ln>
        </p:spPr>
      </p:sp>
      <p:sp>
        <p:nvSpPr>
          <p:cNvPr id="16" name="icon-bg-shield"/>
          <p:cNvSpPr/>
          <p:nvPr/>
        </p:nvSpPr>
        <p:spPr>
          <a:xfrm>
            <a:off x="4892040" y="1325880"/>
            <a:ext cx="457200" cy="457200"/>
          </a:xfrm>
          <a:prstGeom prst="ellipse">
            <a:avLst/>
          </a:prstGeom>
          <a:solidFill>
            <a:srgbClr val="DC2626"/>
          </a:solidFill>
          <a:ln w="12700">
            <a:solidFill>
              <a:srgbClr val="DC2626"/>
            </a:solidFill>
            <a:prstDash val="solid"/>
          </a:ln>
        </p:spPr>
      </p:sp>
      <p:pic>
        <p:nvPicPr>
          <p:cNvPr id="17" name="icon-shield" descr="preencoded.png">    </p:cNvPr>
          <p:cNvPicPr>
            <a:picLocks noChangeAspect="1"/>
          </p:cNvPicPr>
          <p:nvPr/>
        </p:nvPicPr>
        <p:blipFill>
          <a:blip r:embed="rId3"/>
          <a:stretch>
            <a:fillRect/>
          </a:stretch>
        </p:blipFill>
        <p:spPr>
          <a:xfrm>
            <a:off x="5006340" y="1440180"/>
            <a:ext cx="228600" cy="228600"/>
          </a:xfrm>
          <a:prstGeom prst="rect">
            <a:avLst/>
          </a:prstGeom>
        </p:spPr>
      </p:pic>
      <p:sp>
        <p:nvSpPr>
          <p:cNvPr id="18" name="step-title-2"/>
          <p:cNvSpPr txBox="1"/>
          <p:nvPr/>
        </p:nvSpPr>
        <p:spPr>
          <a:xfrm>
            <a:off x="5440680" y="132588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Trivy</a:t>
            </a:r>
            <a:endParaRPr lang="en-US" sz="1200" dirty="0"/>
          </a:p>
        </p:txBody>
      </p:sp>
      <p:sp>
        <p:nvSpPr>
          <p:cNvPr id="19" name="step-body-2"/>
          <p:cNvSpPr txBox="1"/>
          <p:nvPr/>
        </p:nvSpPr>
        <p:spPr>
          <a:xfrm>
            <a:off x="4892040" y="1874520"/>
            <a:ext cx="1645920" cy="548640"/>
          </a:xfrm>
          <a:prstGeom prst="rect">
            <a:avLst/>
          </a:prstGeom>
          <a:noFill/>
          <a:ln/>
        </p:spPr>
        <p:txBody>
          <a:bodyPr wrap="square" lIns="0" tIns="0" rIns="0" bIns="0" rtlCol="0" anchor="t"/>
          <a:lstStyle/>
          <a:p>
            <a:pPr indent="0" marL="0">
              <a:buNone/>
            </a:pPr>
            <a:r>
              <a:rPr lang="en-US" sz="1100" dirty="0">
                <a:solidFill>
                  <a:srgbClr val="475569"/>
                </a:solidFill>
              </a:rPr>
              <a:t>HIGH/CRITICAL gate</a:t>
            </a:r>
            <a:endParaRPr lang="en-US" sz="1100" dirty="0"/>
          </a:p>
        </p:txBody>
      </p:sp>
      <p:sp>
        <p:nvSpPr>
          <p:cNvPr id="20" name="arrow-2"/>
          <p:cNvSpPr/>
          <p:nvPr/>
        </p:nvSpPr>
        <p:spPr>
          <a:xfrm>
            <a:off x="6629400" y="1719072"/>
            <a:ext cx="274320" cy="274320"/>
          </a:xfrm>
          <a:prstGeom prst="rightArrow">
            <a:avLst/>
          </a:prstGeom>
          <a:solidFill>
            <a:srgbClr val="94A3B8"/>
          </a:solidFill>
          <a:ln w="12700">
            <a:solidFill>
              <a:srgbClr val="94A3B8"/>
            </a:solidFill>
            <a:prstDash val="solid"/>
          </a:ln>
        </p:spPr>
      </p:sp>
      <p:sp>
        <p:nvSpPr>
          <p:cNvPr id="21" name="step-3"/>
          <p:cNvSpPr/>
          <p:nvPr/>
        </p:nvSpPr>
        <p:spPr>
          <a:xfrm>
            <a:off x="6903720" y="1188720"/>
            <a:ext cx="1874520" cy="1325880"/>
          </a:xfrm>
          <a:prstGeom prst="roundRect">
            <a:avLst>
              <a:gd name="adj" fmla="val 6897"/>
            </a:avLst>
          </a:prstGeom>
          <a:solidFill>
            <a:srgbClr val="EEF2F8"/>
          </a:solidFill>
          <a:ln w="12700">
            <a:solidFill>
              <a:srgbClr val="EEF2F8"/>
            </a:solidFill>
            <a:prstDash val="solid"/>
          </a:ln>
        </p:spPr>
      </p:sp>
      <p:sp>
        <p:nvSpPr>
          <p:cNvPr id="22" name="icon-bg-docker"/>
          <p:cNvSpPr/>
          <p:nvPr/>
        </p:nvSpPr>
        <p:spPr>
          <a:xfrm>
            <a:off x="7040880" y="1325880"/>
            <a:ext cx="457200" cy="457200"/>
          </a:xfrm>
          <a:prstGeom prst="ellipse">
            <a:avLst/>
          </a:prstGeom>
          <a:solidFill>
            <a:srgbClr val="0891B2"/>
          </a:solidFill>
          <a:ln w="12700">
            <a:solidFill>
              <a:srgbClr val="0891B2"/>
            </a:solidFill>
            <a:prstDash val="solid"/>
          </a:ln>
        </p:spPr>
      </p:sp>
      <p:pic>
        <p:nvPicPr>
          <p:cNvPr id="23" name="icon-docker" descr="preencoded.png">    </p:cNvPr>
          <p:cNvPicPr>
            <a:picLocks noChangeAspect="1"/>
          </p:cNvPicPr>
          <p:nvPr/>
        </p:nvPicPr>
        <p:blipFill>
          <a:blip r:embed="rId4"/>
          <a:stretch>
            <a:fillRect/>
          </a:stretch>
        </p:blipFill>
        <p:spPr>
          <a:xfrm>
            <a:off x="7155180" y="1440180"/>
            <a:ext cx="228600" cy="228600"/>
          </a:xfrm>
          <a:prstGeom prst="rect">
            <a:avLst/>
          </a:prstGeom>
        </p:spPr>
      </p:pic>
      <p:sp>
        <p:nvSpPr>
          <p:cNvPr id="24" name="step-title-3"/>
          <p:cNvSpPr txBox="1"/>
          <p:nvPr/>
        </p:nvSpPr>
        <p:spPr>
          <a:xfrm>
            <a:off x="7589520" y="132588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GHCR</a:t>
            </a:r>
            <a:endParaRPr lang="en-US" sz="1200" dirty="0"/>
          </a:p>
        </p:txBody>
      </p:sp>
      <p:sp>
        <p:nvSpPr>
          <p:cNvPr id="25" name="step-body-3"/>
          <p:cNvSpPr txBox="1"/>
          <p:nvPr/>
        </p:nvSpPr>
        <p:spPr>
          <a:xfrm>
            <a:off x="7040880" y="1874520"/>
            <a:ext cx="1645920" cy="548640"/>
          </a:xfrm>
          <a:prstGeom prst="rect">
            <a:avLst/>
          </a:prstGeom>
          <a:noFill/>
          <a:ln/>
        </p:spPr>
        <p:txBody>
          <a:bodyPr wrap="square" lIns="0" tIns="0" rIns="0" bIns="0" rtlCol="0" anchor="t"/>
          <a:lstStyle/>
          <a:p>
            <a:pPr indent="0" marL="0">
              <a:buNone/>
            </a:pPr>
            <a:r>
              <a:rPr lang="en-US" sz="1100" dirty="0">
                <a:solidFill>
                  <a:srgbClr val="475569"/>
                </a:solidFill>
              </a:rPr>
              <a:t>images tagged :git-sha</a:t>
            </a:r>
            <a:endParaRPr lang="en-US" sz="1100" dirty="0"/>
          </a:p>
        </p:txBody>
      </p:sp>
      <p:sp>
        <p:nvSpPr>
          <p:cNvPr id="26" name="step-4"/>
          <p:cNvSpPr/>
          <p:nvPr/>
        </p:nvSpPr>
        <p:spPr>
          <a:xfrm>
            <a:off x="457200" y="2880360"/>
            <a:ext cx="1874520" cy="1325880"/>
          </a:xfrm>
          <a:prstGeom prst="roundRect">
            <a:avLst>
              <a:gd name="adj" fmla="val 6897"/>
            </a:avLst>
          </a:prstGeom>
          <a:solidFill>
            <a:srgbClr val="EEF2F8"/>
          </a:solidFill>
          <a:ln w="12700">
            <a:solidFill>
              <a:srgbClr val="EEF2F8"/>
            </a:solidFill>
            <a:prstDash val="solid"/>
          </a:ln>
        </p:spPr>
      </p:sp>
      <p:sp>
        <p:nvSpPr>
          <p:cNvPr id="27" name="icon-bg-cloud"/>
          <p:cNvSpPr/>
          <p:nvPr/>
        </p:nvSpPr>
        <p:spPr>
          <a:xfrm>
            <a:off x="594360" y="3017520"/>
            <a:ext cx="457200" cy="457200"/>
          </a:xfrm>
          <a:prstGeom prst="ellipse">
            <a:avLst/>
          </a:prstGeom>
          <a:solidFill>
            <a:srgbClr val="7C3AED"/>
          </a:solidFill>
          <a:ln w="12700">
            <a:solidFill>
              <a:srgbClr val="7C3AED"/>
            </a:solidFill>
            <a:prstDash val="solid"/>
          </a:ln>
        </p:spPr>
      </p:sp>
      <p:pic>
        <p:nvPicPr>
          <p:cNvPr id="28" name="icon-cloud" descr="preencoded.png">    </p:cNvPr>
          <p:cNvPicPr>
            <a:picLocks noChangeAspect="1"/>
          </p:cNvPicPr>
          <p:nvPr/>
        </p:nvPicPr>
        <p:blipFill>
          <a:blip r:embed="rId5"/>
          <a:stretch>
            <a:fillRect/>
          </a:stretch>
        </p:blipFill>
        <p:spPr>
          <a:xfrm>
            <a:off x="708660" y="3131820"/>
            <a:ext cx="228600" cy="228600"/>
          </a:xfrm>
          <a:prstGeom prst="rect">
            <a:avLst/>
          </a:prstGeom>
        </p:spPr>
      </p:pic>
      <p:sp>
        <p:nvSpPr>
          <p:cNvPr id="29" name="step-title-4"/>
          <p:cNvSpPr txBox="1"/>
          <p:nvPr/>
        </p:nvSpPr>
        <p:spPr>
          <a:xfrm>
            <a:off x="1143000" y="301752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Terraform</a:t>
            </a:r>
            <a:endParaRPr lang="en-US" sz="1200" dirty="0"/>
          </a:p>
        </p:txBody>
      </p:sp>
      <p:sp>
        <p:nvSpPr>
          <p:cNvPr id="30" name="step-body-4"/>
          <p:cNvSpPr txBox="1"/>
          <p:nvPr/>
        </p:nvSpPr>
        <p:spPr>
          <a:xfrm>
            <a:off x="594360" y="3566160"/>
            <a:ext cx="1645920" cy="548640"/>
          </a:xfrm>
          <a:prstGeom prst="rect">
            <a:avLst/>
          </a:prstGeom>
          <a:noFill/>
          <a:ln/>
        </p:spPr>
        <p:txBody>
          <a:bodyPr wrap="square" lIns="0" tIns="0" rIns="0" bIns="0" rtlCol="0" anchor="t"/>
          <a:lstStyle/>
          <a:p>
            <a:pPr indent="0" marL="0">
              <a:buNone/>
            </a:pPr>
            <a:r>
              <a:rPr lang="en-US" sz="1100" dirty="0">
                <a:solidFill>
                  <a:srgbClr val="475569"/>
                </a:solidFill>
              </a:rPr>
              <a:t>AWS VPC + EKS</a:t>
            </a:r>
            <a:endParaRPr lang="en-US" sz="1100" dirty="0"/>
          </a:p>
        </p:txBody>
      </p:sp>
      <p:sp>
        <p:nvSpPr>
          <p:cNvPr id="31" name="arrow-4"/>
          <p:cNvSpPr/>
          <p:nvPr/>
        </p:nvSpPr>
        <p:spPr>
          <a:xfrm>
            <a:off x="2331720" y="3410712"/>
            <a:ext cx="274320" cy="274320"/>
          </a:xfrm>
          <a:prstGeom prst="rightArrow">
            <a:avLst/>
          </a:prstGeom>
          <a:solidFill>
            <a:srgbClr val="94A3B8"/>
          </a:solidFill>
          <a:ln w="12700">
            <a:solidFill>
              <a:srgbClr val="94A3B8"/>
            </a:solidFill>
            <a:prstDash val="solid"/>
          </a:ln>
        </p:spPr>
      </p:sp>
      <p:sp>
        <p:nvSpPr>
          <p:cNvPr id="32" name="step-5"/>
          <p:cNvSpPr/>
          <p:nvPr/>
        </p:nvSpPr>
        <p:spPr>
          <a:xfrm>
            <a:off x="2606040" y="2880360"/>
            <a:ext cx="1874520" cy="1325880"/>
          </a:xfrm>
          <a:prstGeom prst="roundRect">
            <a:avLst>
              <a:gd name="adj" fmla="val 6897"/>
            </a:avLst>
          </a:prstGeom>
          <a:solidFill>
            <a:srgbClr val="EEF2F8"/>
          </a:solidFill>
          <a:ln w="12700">
            <a:solidFill>
              <a:srgbClr val="EEF2F8"/>
            </a:solidFill>
            <a:prstDash val="solid"/>
          </a:ln>
        </p:spPr>
      </p:sp>
      <p:sp>
        <p:nvSpPr>
          <p:cNvPr id="33" name="icon-bg-ship"/>
          <p:cNvSpPr/>
          <p:nvPr/>
        </p:nvSpPr>
        <p:spPr>
          <a:xfrm>
            <a:off x="2743200" y="3017520"/>
            <a:ext cx="457200" cy="457200"/>
          </a:xfrm>
          <a:prstGeom prst="ellipse">
            <a:avLst/>
          </a:prstGeom>
          <a:solidFill>
            <a:srgbClr val="D97706"/>
          </a:solidFill>
          <a:ln w="12700">
            <a:solidFill>
              <a:srgbClr val="D97706"/>
            </a:solidFill>
            <a:prstDash val="solid"/>
          </a:ln>
        </p:spPr>
      </p:sp>
      <p:pic>
        <p:nvPicPr>
          <p:cNvPr id="34" name="icon-ship" descr="preencoded.png">    </p:cNvPr>
          <p:cNvPicPr>
            <a:picLocks noChangeAspect="1"/>
          </p:cNvPicPr>
          <p:nvPr/>
        </p:nvPicPr>
        <p:blipFill>
          <a:blip r:embed="rId6"/>
          <a:stretch>
            <a:fillRect/>
          </a:stretch>
        </p:blipFill>
        <p:spPr>
          <a:xfrm>
            <a:off x="2857500" y="3131820"/>
            <a:ext cx="228600" cy="228600"/>
          </a:xfrm>
          <a:prstGeom prst="rect">
            <a:avLst/>
          </a:prstGeom>
        </p:spPr>
      </p:pic>
      <p:sp>
        <p:nvSpPr>
          <p:cNvPr id="35" name="step-title-5"/>
          <p:cNvSpPr txBox="1"/>
          <p:nvPr/>
        </p:nvSpPr>
        <p:spPr>
          <a:xfrm>
            <a:off x="3291840" y="301752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Helm</a:t>
            </a:r>
            <a:endParaRPr lang="en-US" sz="1200" dirty="0"/>
          </a:p>
        </p:txBody>
      </p:sp>
      <p:sp>
        <p:nvSpPr>
          <p:cNvPr id="36" name="step-body-5"/>
          <p:cNvSpPr txBox="1"/>
          <p:nvPr/>
        </p:nvSpPr>
        <p:spPr>
          <a:xfrm>
            <a:off x="2743200" y="3566160"/>
            <a:ext cx="1645920" cy="548640"/>
          </a:xfrm>
          <a:prstGeom prst="rect">
            <a:avLst/>
          </a:prstGeom>
          <a:noFill/>
          <a:ln/>
        </p:spPr>
        <p:txBody>
          <a:bodyPr wrap="square" lIns="0" tIns="0" rIns="0" bIns="0" rtlCol="0" anchor="t"/>
          <a:lstStyle/>
          <a:p>
            <a:pPr indent="0" marL="0">
              <a:buNone/>
            </a:pPr>
            <a:r>
              <a:rPr lang="en-US" sz="1100" dirty="0">
                <a:solidFill>
                  <a:srgbClr val="475569"/>
                </a:solidFill>
              </a:rPr>
              <a:t>upgrade --install</a:t>
            </a:r>
            <a:endParaRPr lang="en-US" sz="1100" dirty="0"/>
          </a:p>
        </p:txBody>
      </p:sp>
      <p:sp>
        <p:nvSpPr>
          <p:cNvPr id="37" name="arrow-5"/>
          <p:cNvSpPr/>
          <p:nvPr/>
        </p:nvSpPr>
        <p:spPr>
          <a:xfrm>
            <a:off x="4480560" y="3410712"/>
            <a:ext cx="274320" cy="274320"/>
          </a:xfrm>
          <a:prstGeom prst="rightArrow">
            <a:avLst/>
          </a:prstGeom>
          <a:solidFill>
            <a:srgbClr val="94A3B8"/>
          </a:solidFill>
          <a:ln w="12700">
            <a:solidFill>
              <a:srgbClr val="94A3B8"/>
            </a:solidFill>
            <a:prstDash val="solid"/>
          </a:ln>
        </p:spPr>
      </p:sp>
      <p:sp>
        <p:nvSpPr>
          <p:cNvPr id="38" name="step-6"/>
          <p:cNvSpPr/>
          <p:nvPr/>
        </p:nvSpPr>
        <p:spPr>
          <a:xfrm>
            <a:off x="4754880" y="2880360"/>
            <a:ext cx="1874520" cy="1325880"/>
          </a:xfrm>
          <a:prstGeom prst="roundRect">
            <a:avLst>
              <a:gd name="adj" fmla="val 6897"/>
            </a:avLst>
          </a:prstGeom>
          <a:solidFill>
            <a:srgbClr val="EEF2F8"/>
          </a:solidFill>
          <a:ln w="12700">
            <a:solidFill>
              <a:srgbClr val="EEF2F8"/>
            </a:solidFill>
            <a:prstDash val="solid"/>
          </a:ln>
        </p:spPr>
      </p:sp>
      <p:sp>
        <p:nvSpPr>
          <p:cNvPr id="39" name="icon-bg-k8s"/>
          <p:cNvSpPr/>
          <p:nvPr/>
        </p:nvSpPr>
        <p:spPr>
          <a:xfrm>
            <a:off x="4892040" y="3017520"/>
            <a:ext cx="457200" cy="457200"/>
          </a:xfrm>
          <a:prstGeom prst="ellipse">
            <a:avLst/>
          </a:prstGeom>
          <a:solidFill>
            <a:srgbClr val="2563EB"/>
          </a:solidFill>
          <a:ln w="12700">
            <a:solidFill>
              <a:srgbClr val="2563EB"/>
            </a:solidFill>
            <a:prstDash val="solid"/>
          </a:ln>
        </p:spPr>
      </p:sp>
      <p:pic>
        <p:nvPicPr>
          <p:cNvPr id="40" name="icon-k8s" descr="preencoded.png">    </p:cNvPr>
          <p:cNvPicPr>
            <a:picLocks noChangeAspect="1"/>
          </p:cNvPicPr>
          <p:nvPr/>
        </p:nvPicPr>
        <p:blipFill>
          <a:blip r:embed="rId7"/>
          <a:stretch>
            <a:fillRect/>
          </a:stretch>
        </p:blipFill>
        <p:spPr>
          <a:xfrm>
            <a:off x="5006340" y="3131820"/>
            <a:ext cx="228600" cy="228600"/>
          </a:xfrm>
          <a:prstGeom prst="rect">
            <a:avLst/>
          </a:prstGeom>
        </p:spPr>
      </p:pic>
      <p:sp>
        <p:nvSpPr>
          <p:cNvPr id="41" name="step-title-6"/>
          <p:cNvSpPr txBox="1"/>
          <p:nvPr/>
        </p:nvSpPr>
        <p:spPr>
          <a:xfrm>
            <a:off x="5440680" y="301752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Kubernetes</a:t>
            </a:r>
            <a:endParaRPr lang="en-US" sz="1200" dirty="0"/>
          </a:p>
        </p:txBody>
      </p:sp>
      <p:sp>
        <p:nvSpPr>
          <p:cNvPr id="42" name="step-body-6"/>
          <p:cNvSpPr txBox="1"/>
          <p:nvPr/>
        </p:nvSpPr>
        <p:spPr>
          <a:xfrm>
            <a:off x="4892040" y="3566160"/>
            <a:ext cx="1645920" cy="548640"/>
          </a:xfrm>
          <a:prstGeom prst="rect">
            <a:avLst/>
          </a:prstGeom>
          <a:noFill/>
          <a:ln/>
        </p:spPr>
        <p:txBody>
          <a:bodyPr wrap="square" lIns="0" tIns="0" rIns="0" bIns="0" rtlCol="0" anchor="t"/>
          <a:lstStyle/>
          <a:p>
            <a:pPr indent="0" marL="0">
              <a:buNone/>
            </a:pPr>
            <a:r>
              <a:rPr lang="en-US" sz="1100" dirty="0">
                <a:solidFill>
                  <a:srgbClr val="475569"/>
                </a:solidFill>
              </a:rPr>
              <a:t>Ingress · HPA · probes</a:t>
            </a:r>
            <a:endParaRPr lang="en-US" sz="1100" dirty="0"/>
          </a:p>
        </p:txBody>
      </p:sp>
      <p:sp>
        <p:nvSpPr>
          <p:cNvPr id="43" name="arrow-6"/>
          <p:cNvSpPr/>
          <p:nvPr/>
        </p:nvSpPr>
        <p:spPr>
          <a:xfrm>
            <a:off x="6629400" y="3410712"/>
            <a:ext cx="274320" cy="274320"/>
          </a:xfrm>
          <a:prstGeom prst="rightArrow">
            <a:avLst/>
          </a:prstGeom>
          <a:solidFill>
            <a:srgbClr val="94A3B8"/>
          </a:solidFill>
          <a:ln w="12700">
            <a:solidFill>
              <a:srgbClr val="94A3B8"/>
            </a:solidFill>
            <a:prstDash val="solid"/>
          </a:ln>
        </p:spPr>
      </p:sp>
      <p:sp>
        <p:nvSpPr>
          <p:cNvPr id="44" name="step-7"/>
          <p:cNvSpPr/>
          <p:nvPr/>
        </p:nvSpPr>
        <p:spPr>
          <a:xfrm>
            <a:off x="6903720" y="2880360"/>
            <a:ext cx="1874520" cy="1325880"/>
          </a:xfrm>
          <a:prstGeom prst="roundRect">
            <a:avLst>
              <a:gd name="adj" fmla="val 6897"/>
            </a:avLst>
          </a:prstGeom>
          <a:solidFill>
            <a:srgbClr val="EEF2F8"/>
          </a:solidFill>
          <a:ln w="12700">
            <a:solidFill>
              <a:srgbClr val="EEF2F8"/>
            </a:solidFill>
            <a:prstDash val="solid"/>
          </a:ln>
        </p:spPr>
      </p:sp>
      <p:sp>
        <p:nvSpPr>
          <p:cNvPr id="45" name="icon-bg-chart"/>
          <p:cNvSpPr/>
          <p:nvPr/>
        </p:nvSpPr>
        <p:spPr>
          <a:xfrm>
            <a:off x="7040880" y="3017520"/>
            <a:ext cx="457200" cy="457200"/>
          </a:xfrm>
          <a:prstGeom prst="ellipse">
            <a:avLst/>
          </a:prstGeom>
          <a:solidFill>
            <a:srgbClr val="16A34A"/>
          </a:solidFill>
          <a:ln w="12700">
            <a:solidFill>
              <a:srgbClr val="16A34A"/>
            </a:solidFill>
            <a:prstDash val="solid"/>
          </a:ln>
        </p:spPr>
      </p:sp>
      <p:pic>
        <p:nvPicPr>
          <p:cNvPr id="46" name="icon-chart" descr="preencoded.png">    </p:cNvPr>
          <p:cNvPicPr>
            <a:picLocks noChangeAspect="1"/>
          </p:cNvPicPr>
          <p:nvPr/>
        </p:nvPicPr>
        <p:blipFill>
          <a:blip r:embed="rId8"/>
          <a:stretch>
            <a:fillRect/>
          </a:stretch>
        </p:blipFill>
        <p:spPr>
          <a:xfrm>
            <a:off x="7155180" y="3131820"/>
            <a:ext cx="228600" cy="228600"/>
          </a:xfrm>
          <a:prstGeom prst="rect">
            <a:avLst/>
          </a:prstGeom>
        </p:spPr>
      </p:pic>
      <p:sp>
        <p:nvSpPr>
          <p:cNvPr id="47" name="step-title-7"/>
          <p:cNvSpPr txBox="1"/>
          <p:nvPr/>
        </p:nvSpPr>
        <p:spPr>
          <a:xfrm>
            <a:off x="7589520" y="3017520"/>
            <a:ext cx="1143000" cy="457200"/>
          </a:xfrm>
          <a:prstGeom prst="rect">
            <a:avLst/>
          </a:prstGeom>
          <a:noFill/>
          <a:ln/>
        </p:spPr>
        <p:txBody>
          <a:bodyPr wrap="square" lIns="0" tIns="0" rIns="0" bIns="0" rtlCol="0" anchor="ctr"/>
          <a:lstStyle/>
          <a:p>
            <a:pPr indent="0" marL="0">
              <a:buNone/>
            </a:pPr>
            <a:r>
              <a:rPr lang="en-US" sz="1200" b="1" dirty="0">
                <a:solidFill>
                  <a:schemeClr val="tx1"/>
                </a:solidFill>
              </a:rPr>
              <a:t>Prometheus + Grafana</a:t>
            </a:r>
            <a:endParaRPr lang="en-US" sz="1200" dirty="0"/>
          </a:p>
        </p:txBody>
      </p:sp>
      <p:sp>
        <p:nvSpPr>
          <p:cNvPr id="48" name="step-body-7"/>
          <p:cNvSpPr txBox="1"/>
          <p:nvPr/>
        </p:nvSpPr>
        <p:spPr>
          <a:xfrm>
            <a:off x="7040880" y="3566160"/>
            <a:ext cx="1645920" cy="548640"/>
          </a:xfrm>
          <a:prstGeom prst="rect">
            <a:avLst/>
          </a:prstGeom>
          <a:noFill/>
          <a:ln/>
        </p:spPr>
        <p:txBody>
          <a:bodyPr wrap="square" lIns="0" tIns="0" rIns="0" bIns="0" rtlCol="0" anchor="t"/>
          <a:lstStyle/>
          <a:p>
            <a:pPr indent="0" marL="0">
              <a:buNone/>
            </a:pPr>
            <a:r>
              <a:rPr lang="en-US" sz="1100" dirty="0">
                <a:solidFill>
                  <a:srgbClr val="475569"/>
                </a:solidFill>
              </a:rPr>
              <a:t>ServiceMonitor · dashboard</a:t>
            </a:r>
            <a:endParaRPr lang="en-US" sz="1100" dirty="0"/>
          </a:p>
        </p:txBody>
      </p:sp>
      <p:sp>
        <p:nvSpPr>
          <p:cNvPr id="49" name="arrow-down"/>
          <p:cNvSpPr/>
          <p:nvPr/>
        </p:nvSpPr>
        <p:spPr>
          <a:xfrm>
            <a:off x="8001000" y="2560320"/>
            <a:ext cx="274320" cy="274320"/>
          </a:xfrm>
          <a:prstGeom prst="downArrow">
            <a:avLst/>
          </a:prstGeom>
          <a:solidFill>
            <a:srgbClr val="94A3B8"/>
          </a:solidFill>
          <a:ln w="12700">
            <a:solidFill>
              <a:srgbClr val="94A3B8"/>
            </a:solidFill>
            <a:prstDash val="solid"/>
          </a:ln>
        </p:spPr>
      </p:sp>
      <p:sp>
        <p:nvSpPr>
          <p:cNvPr id="50" name="arch-note"/>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i="1" dirty="0">
                <a:solidFill>
                  <a:srgbClr val="475569"/>
                </a:solidFill>
              </a:rPr>
              <a:t>Every running Pod's image tag equals the Git commit that produced it: production traces back to source.</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Application: React dashboard + FastAPI</a:t>
            </a:r>
            <a:endParaRPr lang="en-US" sz="2600" dirty="0"/>
          </a:p>
        </p:txBody>
      </p:sp>
      <p:pic>
        <p:nvPicPr>
          <p:cNvPr id="3" name="app-dashboard" descr="/Users/vibhutibhatnagar/Desktop/SST STUDY/DEVOPS CAPSTONE PROJECT/docs/screenshots/01-dashboard.png">    </p:cNvPr>
          <p:cNvPicPr>
            <a:picLocks noChangeAspect="1"/>
          </p:cNvPicPr>
          <p:nvPr/>
        </p:nvPicPr>
        <p:blipFill>
          <a:blip r:embed="rId1"/>
          <a:stretch>
            <a:fillRect/>
          </a:stretch>
        </p:blipFill>
        <p:spPr>
          <a:xfrm>
            <a:off x="457200" y="1143000"/>
            <a:ext cx="5120640" cy="3200400"/>
          </a:xfrm>
          <a:prstGeom prst="rect">
            <a:avLst/>
          </a:prstGeom>
          <a:effectLst>
            <a:outerShdw sx="100000" sy="100000" kx="0" ky="0" algn="bl" rotWithShape="0" blurRad="101600" dist="38100" dir="5400000">
              <a:srgbClr val="000000">
                <a:alpha val="25000"/>
              </a:srgbClr>
            </a:outerShdw>
          </a:effectLst>
        </p:spPr>
      </p:pic>
      <p:sp>
        <p:nvSpPr>
          <p:cNvPr id="4" name="app-bullets"/>
          <p:cNvSpPr txBox="1"/>
          <p:nvPr/>
        </p:nvSpPr>
        <p:spPr>
          <a:xfrm>
            <a:off x="5806440" y="1143000"/>
            <a:ext cx="2926080" cy="3291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rPr>
              <a:t>React 19 + Vite 8 single-page app: KPI cards, searchable product table with stock-level bars, ledger, create / receive / issue modals, toasts</a:t>
            </a:r>
            <a:endParaRPr lang="en-US" sz="1200" dirty="0"/>
          </a:p>
          <a:p>
            <a:pPr marL="342900" indent="-342900">
              <a:spcAft>
                <a:spcPts val="600"/>
              </a:spcAft>
              <a:buSzPct val="100000"/>
              <a:buChar char="•"/>
            </a:pPr>
            <a:r>
              <a:rPr lang="en-US" sz="1200" dirty="0">
                <a:solidFill>
                  <a:srgbClr val="334155"/>
                </a:solidFill>
              </a:rPr>
              <a:t>FastAPI + SQLAlchemy 2 + Pydantic v2; schema owned by Alembic migrations</a:t>
            </a:r>
            <a:endParaRPr lang="en-US" sz="1200" dirty="0"/>
          </a:p>
          <a:p>
            <a:pPr marL="342900" indent="-342900">
              <a:spcAft>
                <a:spcPts val="600"/>
              </a:spcAft>
              <a:buSzPct val="100000"/>
              <a:buChar char="•"/>
            </a:pPr>
            <a:r>
              <a:rPr lang="en-US" sz="1200" dirty="0">
                <a:solidFill>
                  <a:srgbClr val="334155"/>
                </a:solidFill>
              </a:rPr>
              <a:t>PostgreSQL 17; Nginx proxies /api so the browser never learns backend hostnames</a:t>
            </a:r>
            <a:endParaRPr lang="en-US" sz="1200" dirty="0"/>
          </a:p>
          <a:p>
            <a:pPr marL="342900" indent="-342900">
              <a:spcAft>
                <a:spcPts val="600"/>
              </a:spcAft>
              <a:buSzPct val="100000"/>
              <a:buChar char="•"/>
            </a:pPr>
            <a:r>
              <a:rPr lang="en-US" sz="1200" dirty="0">
                <a:solidFill>
                  <a:srgbClr val="334155"/>
                </a:solidFill>
              </a:rPr>
              <a:t>/health (liveness), /ready (checks the database), /metrics (Prometheus)</a:t>
            </a:r>
            <a:endParaRPr lang="en-US" sz="1200" dirty="0"/>
          </a:p>
          <a:p>
            <a:pPr marL="342900" indent="-342900">
              <a:spcAft>
                <a:spcPts val="600"/>
              </a:spcAft>
              <a:buSzPct val="100000"/>
              <a:buChar char="•"/>
            </a:pPr>
            <a:r>
              <a:rPr lang="en-US" sz="1200" dirty="0">
                <a:solidFill>
                  <a:srgbClr val="334155"/>
                </a:solidFill>
              </a:rPr>
              <a:t>Responsive layout down to 390 px; loading and backend-error states</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REST API (14 endpoints)</a:t>
            </a:r>
            <a:endParaRPr lang="en-US" sz="2600" dirty="0"/>
          </a:p>
        </p:txBody>
      </p:sp>
      <p:graphicFrame>
        <p:nvGraphicFramePr>
          <p:cNvPr id="6" name="api-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463040"/>
                <a:gridCol w="2194560"/>
                <a:gridCol w="4572000"/>
              </a:tblGrid>
              <a:tr h="329184">
                <a:tc>
                  <a:txBody>
                    <a:bodyPr/>
                    <a:lstStyle/>
                    <a:p>
                      <a:pPr indent="0" marL="0">
                        <a:buNone/>
                      </a:pPr>
                      <a:r>
                        <a:rPr lang="en-US" sz="1100" b="1" dirty="0">
                          <a:solidFill>
                            <a:schemeClr val="bg1"/>
                          </a:solidFill>
                          <a:latin typeface="+mn-lt" pitchFamily="34" charset="0"/>
                          <a:ea typeface="+mn-lt" pitchFamily="34" charset="-122"/>
                          <a:cs typeface="+mn-lt" pitchFamily="34" charset="-120"/>
                        </a:rPr>
                        <a:t>Method</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Path</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indent="0" marL="0">
                        <a:buNone/>
                      </a:pPr>
                      <a:r>
                        <a:rPr lang="en-US" sz="1100" b="1" dirty="0">
                          <a:solidFill>
                            <a:schemeClr val="bg1"/>
                          </a:solidFill>
                          <a:latin typeface="+mn-lt" pitchFamily="34" charset="0"/>
                          <a:ea typeface="+mn-lt" pitchFamily="34" charset="-122"/>
                          <a:cs typeface="+mn-lt" pitchFamily="34" charset="-120"/>
                        </a:rPr>
                        <a:t>Purpose</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 / POST</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/api/products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List (search, category, stock-status filters) / create; 409 on duplicate SKU</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 / PUT / DELETE</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/api/products/{id}</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Read, partial update, delete (cascades movements)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/api/products/stats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Dashboard KPIs: totals, low / out of stock, inventory value</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/api/products/low-stock</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Products at or below their reorder level</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 / POST</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/api/suppliers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List / create suppliers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 / PUT / DELETE</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/api/suppliers/{id}</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Read, update, delete (products are detached, not deleted)</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 / POST</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/api/movements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Ledger (newest first) / receive IN or issue OUT stock</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34155"/>
                          </a:solidFill>
                          <a:latin typeface="+mn-lt" pitchFamily="34" charset="0"/>
                          <a:ea typeface="+mn-lt" pitchFamily="34" charset="-122"/>
                          <a:cs typeface="+mn-lt" pitchFamily="34" charset="-120"/>
                        </a:rPr>
                        <a:t>GET</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/health · /ready · /metrics</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c>
                  <a:txBody>
                    <a:bodyPr/>
                    <a:lstStyle/>
                    <a:p>
                      <a:pPr indent="0" marL="0">
                        <a:buNone/>
                      </a:pPr>
                      <a:r>
                        <a:rPr lang="en-US" sz="1100" dirty="0">
                          <a:solidFill>
                            <a:srgbClr val="334155"/>
                          </a:solidFill>
                          <a:latin typeface="+mn-lt" pitchFamily="34" charset="0"/>
                          <a:ea typeface="+mn-lt" pitchFamily="34" charset="-122"/>
                          <a:cs typeface="+mn-lt" pitchFamily="34" charset="-120"/>
                        </a:rPr>
                        <a:t>Liveness, readiness (SELECT 1), Prometheus exposition</a:t>
                      </a:r>
                      <a:endParaRPr lang="en-US" sz="1100" dirty="0">
                        <a:latin typeface="+mn-lt" charset="0"/>
                        <a:ea typeface="+mn-lt" charset="0"/>
                        <a:cs typeface="+mn-lt" charset="0"/>
                      </a:endParaRPr>
                    </a:p>
                  </a:txBody>
                  <a:tcPr marL="54864" marR="54864" marT="54864" marB="54864">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2F8"/>
                    </a:solidFill>
                  </a:tcPr>
                </a:tc>
              </a:tr>
            </a:tbl>
          </a:graphicData>
        </a:graphic>
      </p:graphicFrame>
      <p:sp>
        <p:nvSpPr>
          <p:cNvPr id="4" name="api-note"/>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200" i="1" dirty="0">
                <a:solidFill>
                  <a:srgbClr val="475569"/>
                </a:solidFill>
              </a:rPr>
              <a:t>Validation with Pydantic (422), not-found (404), conflicts (409). Interactive docs at /docs.</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Testing is the first quality gate</a:t>
            </a:r>
            <a:endParaRPr lang="en-US" sz="2600" dirty="0"/>
          </a:p>
        </p:txBody>
      </p:sp>
      <p:pic>
        <p:nvPicPr>
          <p:cNvPr id="3" name="pytest-shot" descr="/Users/vibhutibhatnagar/Desktop/SST STUDY/DEVOPS CAPSTONE PROJECT/docs/screenshots/11-pytest-passing.png">    </p:cNvPr>
          <p:cNvPicPr>
            <a:picLocks noChangeAspect="1"/>
          </p:cNvPicPr>
          <p:nvPr/>
        </p:nvPicPr>
        <p:blipFill>
          <a:blip r:embed="rId1"/>
          <a:stretch>
            <a:fillRect/>
          </a:stretch>
        </p:blipFill>
        <p:spPr>
          <a:xfrm>
            <a:off x="457200" y="1143000"/>
            <a:ext cx="3749040" cy="3474720"/>
          </a:xfrm>
          <a:prstGeom prst="rect">
            <a:avLst/>
          </a:prstGeom>
          <a:effectLst>
            <a:outerShdw sx="100000" sy="100000" kx="0" ky="0" algn="bl" rotWithShape="0" blurRad="101600" dist="38100" dir="5400000">
              <a:srgbClr val="000000">
                <a:alpha val="25000"/>
              </a:srgbClr>
            </a:outerShdw>
          </a:effectLst>
        </p:spPr>
      </p:pic>
      <p:sp>
        <p:nvSpPr>
          <p:cNvPr id="4" name="card-28 pytest cases over every endpoint"/>
          <p:cNvSpPr/>
          <p:nvPr/>
        </p:nvSpPr>
        <p:spPr>
          <a:xfrm>
            <a:off x="4480560" y="1143000"/>
            <a:ext cx="4206240" cy="1097280"/>
          </a:xfrm>
          <a:prstGeom prst="roundRect">
            <a:avLst>
              <a:gd name="adj" fmla="val 10000"/>
            </a:avLst>
          </a:prstGeom>
          <a:solidFill>
            <a:srgbClr val="EEF2F8"/>
          </a:solidFill>
          <a:ln w="12700">
            <a:solidFill>
              <a:srgbClr val="EEF2F8"/>
            </a:solidFill>
            <a:prstDash val="solid"/>
          </a:ln>
        </p:spPr>
      </p:sp>
      <p:sp>
        <p:nvSpPr>
          <p:cNvPr id="5" name="icon-bg-test"/>
          <p:cNvSpPr/>
          <p:nvPr/>
        </p:nvSpPr>
        <p:spPr>
          <a:xfrm>
            <a:off x="4663440" y="1325880"/>
            <a:ext cx="457200" cy="457200"/>
          </a:xfrm>
          <a:prstGeom prst="ellipse">
            <a:avLst/>
          </a:prstGeom>
          <a:solidFill>
            <a:srgbClr val="16A34A"/>
          </a:solidFill>
          <a:ln w="12700">
            <a:solidFill>
              <a:srgbClr val="16A34A"/>
            </a:solidFill>
            <a:prstDash val="solid"/>
          </a:ln>
        </p:spPr>
      </p:sp>
      <p:pic>
        <p:nvPicPr>
          <p:cNvPr id="6" name="icon-test" descr="preencoded.png">    </p:cNvPr>
          <p:cNvPicPr>
            <a:picLocks noChangeAspect="1"/>
          </p:cNvPicPr>
          <p:nvPr/>
        </p:nvPicPr>
        <p:blipFill>
          <a:blip r:embed="rId2"/>
          <a:stretch>
            <a:fillRect/>
          </a:stretch>
        </p:blipFill>
        <p:spPr>
          <a:xfrm>
            <a:off x="4777740" y="1440180"/>
            <a:ext cx="228600" cy="228600"/>
          </a:xfrm>
          <a:prstGeom prst="rect">
            <a:avLst/>
          </a:prstGeom>
        </p:spPr>
      </p:pic>
      <p:sp>
        <p:nvSpPr>
          <p:cNvPr id="7" name="card-title-28 pytest cases over every endpoint"/>
          <p:cNvSpPr txBox="1"/>
          <p:nvPr/>
        </p:nvSpPr>
        <p:spPr>
          <a:xfrm>
            <a:off x="5257800" y="1325880"/>
            <a:ext cx="3246120" cy="457200"/>
          </a:xfrm>
          <a:prstGeom prst="rect">
            <a:avLst/>
          </a:prstGeom>
          <a:noFill/>
          <a:ln/>
        </p:spPr>
        <p:txBody>
          <a:bodyPr wrap="square" lIns="0" tIns="0" rIns="0" bIns="0" rtlCol="0" anchor="ctr"/>
          <a:lstStyle/>
          <a:p>
            <a:pPr indent="0" marL="0">
              <a:buNone/>
            </a:pPr>
            <a:r>
              <a:rPr lang="en-US" sz="1400" b="1" dirty="0">
                <a:solidFill>
                  <a:schemeClr val="tx1"/>
                </a:solidFill>
              </a:rPr>
              <a:t>28 pytest cases over every endpoint</a:t>
            </a:r>
            <a:endParaRPr lang="en-US" sz="1400" dirty="0"/>
          </a:p>
        </p:txBody>
      </p:sp>
      <p:sp>
        <p:nvSpPr>
          <p:cNvPr id="8" name="card-body-28 pytest cases over every endpoint"/>
          <p:cNvSpPr txBox="1"/>
          <p:nvPr/>
        </p:nvSpPr>
        <p:spPr>
          <a:xfrm>
            <a:off x="4663440" y="1874520"/>
            <a:ext cx="3840480" cy="22860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Happy paths, validation (422), not-found (404), duplicate SKU and insufficient stock (409), filters, statistics, /metrics format.</a:t>
            </a:r>
            <a:endParaRPr lang="en-US" sz="1100" dirty="0"/>
          </a:p>
        </p:txBody>
      </p:sp>
      <p:sp>
        <p:nvSpPr>
          <p:cNvPr id="9" name="card-Never touches the real database"/>
          <p:cNvSpPr/>
          <p:nvPr/>
        </p:nvSpPr>
        <p:spPr>
          <a:xfrm>
            <a:off x="4480560" y="2331720"/>
            <a:ext cx="4206240" cy="1097280"/>
          </a:xfrm>
          <a:prstGeom prst="roundRect">
            <a:avLst>
              <a:gd name="adj" fmla="val 10000"/>
            </a:avLst>
          </a:prstGeom>
          <a:solidFill>
            <a:srgbClr val="EEF2F8"/>
          </a:solidFill>
          <a:ln w="12700">
            <a:solidFill>
              <a:srgbClr val="EEF2F8"/>
            </a:solidFill>
            <a:prstDash val="solid"/>
          </a:ln>
        </p:spPr>
      </p:sp>
      <p:sp>
        <p:nvSpPr>
          <p:cNvPr id="10" name="icon-bg-db"/>
          <p:cNvSpPr/>
          <p:nvPr/>
        </p:nvSpPr>
        <p:spPr>
          <a:xfrm>
            <a:off x="4663440" y="2514600"/>
            <a:ext cx="457200" cy="457200"/>
          </a:xfrm>
          <a:prstGeom prst="ellipse">
            <a:avLst/>
          </a:prstGeom>
          <a:solidFill>
            <a:srgbClr val="0891B2"/>
          </a:solidFill>
          <a:ln w="12700">
            <a:solidFill>
              <a:srgbClr val="0891B2"/>
            </a:solidFill>
            <a:prstDash val="solid"/>
          </a:ln>
        </p:spPr>
      </p:sp>
      <p:pic>
        <p:nvPicPr>
          <p:cNvPr id="11" name="icon-db" descr="preencoded.png">    </p:cNvPr>
          <p:cNvPicPr>
            <a:picLocks noChangeAspect="1"/>
          </p:cNvPicPr>
          <p:nvPr/>
        </p:nvPicPr>
        <p:blipFill>
          <a:blip r:embed="rId3"/>
          <a:stretch>
            <a:fillRect/>
          </a:stretch>
        </p:blipFill>
        <p:spPr>
          <a:xfrm>
            <a:off x="4777740" y="2628900"/>
            <a:ext cx="228600" cy="228600"/>
          </a:xfrm>
          <a:prstGeom prst="rect">
            <a:avLst/>
          </a:prstGeom>
        </p:spPr>
      </p:pic>
      <p:sp>
        <p:nvSpPr>
          <p:cNvPr id="12" name="card-title-Never touches the real database"/>
          <p:cNvSpPr txBox="1"/>
          <p:nvPr/>
        </p:nvSpPr>
        <p:spPr>
          <a:xfrm>
            <a:off x="5257800" y="2514600"/>
            <a:ext cx="3246120" cy="457200"/>
          </a:xfrm>
          <a:prstGeom prst="rect">
            <a:avLst/>
          </a:prstGeom>
          <a:noFill/>
          <a:ln/>
        </p:spPr>
        <p:txBody>
          <a:bodyPr wrap="square" lIns="0" tIns="0" rIns="0" bIns="0" rtlCol="0" anchor="ctr"/>
          <a:lstStyle/>
          <a:p>
            <a:pPr indent="0" marL="0">
              <a:buNone/>
            </a:pPr>
            <a:r>
              <a:rPr lang="en-US" sz="1400" b="1" dirty="0">
                <a:solidFill>
                  <a:schemeClr val="tx1"/>
                </a:solidFill>
              </a:rPr>
              <a:t>Never touches the real database</a:t>
            </a:r>
            <a:endParaRPr lang="en-US" sz="1400" dirty="0"/>
          </a:p>
        </p:txBody>
      </p:sp>
      <p:sp>
        <p:nvSpPr>
          <p:cNvPr id="13" name="card-body-Never touches the real database"/>
          <p:cNvSpPr txBox="1"/>
          <p:nvPr/>
        </p:nvSpPr>
        <p:spPr>
          <a:xfrm>
            <a:off x="4663440" y="3063240"/>
            <a:ext cx="3840480" cy="22860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conftest.py builds a fresh in-memory SQLite per test, injected via dependency_overrides. The whole suite runs in about 0.2 s.</a:t>
            </a:r>
            <a:endParaRPr lang="en-US" sz="1100" dirty="0"/>
          </a:p>
        </p:txBody>
      </p:sp>
      <p:sp>
        <p:nvSpPr>
          <p:cNvPr id="14" name="card-ruff lint + format check before pytest"/>
          <p:cNvSpPr/>
          <p:nvPr/>
        </p:nvSpPr>
        <p:spPr>
          <a:xfrm>
            <a:off x="4480560" y="3520440"/>
            <a:ext cx="4206240" cy="1097280"/>
          </a:xfrm>
          <a:prstGeom prst="roundRect">
            <a:avLst>
              <a:gd name="adj" fmla="val 10000"/>
            </a:avLst>
          </a:prstGeom>
          <a:solidFill>
            <a:srgbClr val="EEF2F8"/>
          </a:solidFill>
          <a:ln w="12700">
            <a:solidFill>
              <a:srgbClr val="EEF2F8"/>
            </a:solidFill>
            <a:prstDash val="solid"/>
          </a:ln>
        </p:spPr>
      </p:sp>
      <p:sp>
        <p:nvSpPr>
          <p:cNvPr id="15" name="icon-bg-check"/>
          <p:cNvSpPr/>
          <p:nvPr/>
        </p:nvSpPr>
        <p:spPr>
          <a:xfrm>
            <a:off x="4663440" y="3703320"/>
            <a:ext cx="457200" cy="457200"/>
          </a:xfrm>
          <a:prstGeom prst="ellipse">
            <a:avLst/>
          </a:prstGeom>
          <a:solidFill>
            <a:srgbClr val="2563EB"/>
          </a:solidFill>
          <a:ln w="12700">
            <a:solidFill>
              <a:srgbClr val="2563EB"/>
            </a:solidFill>
            <a:prstDash val="solid"/>
          </a:ln>
        </p:spPr>
      </p:sp>
      <p:pic>
        <p:nvPicPr>
          <p:cNvPr id="16" name="icon-check" descr="preencoded.png">    </p:cNvPr>
          <p:cNvPicPr>
            <a:picLocks noChangeAspect="1"/>
          </p:cNvPicPr>
          <p:nvPr/>
        </p:nvPicPr>
        <p:blipFill>
          <a:blip r:embed="rId4"/>
          <a:stretch>
            <a:fillRect/>
          </a:stretch>
        </p:blipFill>
        <p:spPr>
          <a:xfrm>
            <a:off x="4777740" y="3817620"/>
            <a:ext cx="228600" cy="228600"/>
          </a:xfrm>
          <a:prstGeom prst="rect">
            <a:avLst/>
          </a:prstGeom>
        </p:spPr>
      </p:pic>
      <p:sp>
        <p:nvSpPr>
          <p:cNvPr id="17" name="card-title-ruff lint + format check before pytest"/>
          <p:cNvSpPr txBox="1"/>
          <p:nvPr/>
        </p:nvSpPr>
        <p:spPr>
          <a:xfrm>
            <a:off x="5257800" y="3703320"/>
            <a:ext cx="3246120" cy="457200"/>
          </a:xfrm>
          <a:prstGeom prst="rect">
            <a:avLst/>
          </a:prstGeom>
          <a:noFill/>
          <a:ln/>
        </p:spPr>
        <p:txBody>
          <a:bodyPr wrap="square" lIns="0" tIns="0" rIns="0" bIns="0" rtlCol="0" anchor="ctr"/>
          <a:lstStyle/>
          <a:p>
            <a:pPr indent="0" marL="0">
              <a:buNone/>
            </a:pPr>
            <a:r>
              <a:rPr lang="en-US" sz="1400" b="1" dirty="0">
                <a:solidFill>
                  <a:schemeClr val="tx1"/>
                </a:solidFill>
              </a:rPr>
              <a:t>ruff lint + format check before pytest</a:t>
            </a:r>
            <a:endParaRPr lang="en-US" sz="1400" dirty="0"/>
          </a:p>
        </p:txBody>
      </p:sp>
      <p:sp>
        <p:nvSpPr>
          <p:cNvPr id="18" name="card-body-ruff lint + format check before pytest"/>
          <p:cNvSpPr txBox="1"/>
          <p:nvPr/>
        </p:nvSpPr>
        <p:spPr>
          <a:xfrm>
            <a:off x="4663440" y="4251960"/>
            <a:ext cx="3840480" cy="22860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Both run locally and as the first CI job. A failing test stops the pipeline, so a broken image is never built or pushed.</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Containers: small, non-root, one command</a:t>
            </a:r>
            <a:endParaRPr lang="en-US" sz="2600" dirty="0"/>
          </a:p>
        </p:txBody>
      </p:sp>
      <p:sp>
        <p:nvSpPr>
          <p:cNvPr id="3" name="card-stockpilot-backend"/>
          <p:cNvSpPr/>
          <p:nvPr/>
        </p:nvSpPr>
        <p:spPr>
          <a:xfrm>
            <a:off x="457200" y="1143000"/>
            <a:ext cx="4023360" cy="2057400"/>
          </a:xfrm>
          <a:prstGeom prst="roundRect">
            <a:avLst>
              <a:gd name="adj" fmla="val 5333"/>
            </a:avLst>
          </a:prstGeom>
          <a:solidFill>
            <a:srgbClr val="EEF2F8"/>
          </a:solidFill>
          <a:ln w="12700">
            <a:solidFill>
              <a:srgbClr val="EEF2F8"/>
            </a:solidFill>
            <a:prstDash val="solid"/>
          </a:ln>
        </p:spPr>
      </p:sp>
      <p:sp>
        <p:nvSpPr>
          <p:cNvPr id="4" name="icon-bg-python"/>
          <p:cNvSpPr/>
          <p:nvPr/>
        </p:nvSpPr>
        <p:spPr>
          <a:xfrm>
            <a:off x="640080" y="1325880"/>
            <a:ext cx="457200" cy="457200"/>
          </a:xfrm>
          <a:prstGeom prst="ellipse">
            <a:avLst/>
          </a:prstGeom>
          <a:solidFill>
            <a:srgbClr val="2563EB"/>
          </a:solidFill>
          <a:ln w="12700">
            <a:solidFill>
              <a:srgbClr val="2563EB"/>
            </a:solidFill>
            <a:prstDash val="solid"/>
          </a:ln>
        </p:spPr>
      </p:sp>
      <p:pic>
        <p:nvPicPr>
          <p:cNvPr id="5" name="icon-python"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card-title-stockpilot-backend"/>
          <p:cNvSpPr txBox="1"/>
          <p:nvPr/>
        </p:nvSpPr>
        <p:spPr>
          <a:xfrm>
            <a:off x="1234440" y="1325880"/>
            <a:ext cx="3063240" cy="457200"/>
          </a:xfrm>
          <a:prstGeom prst="rect">
            <a:avLst/>
          </a:prstGeom>
          <a:noFill/>
          <a:ln/>
        </p:spPr>
        <p:txBody>
          <a:bodyPr wrap="square" lIns="0" tIns="0" rIns="0" bIns="0" rtlCol="0" anchor="ctr"/>
          <a:lstStyle/>
          <a:p>
            <a:pPr indent="0" marL="0">
              <a:buNone/>
            </a:pPr>
            <a:r>
              <a:rPr lang="en-US" sz="1400" b="1" dirty="0">
                <a:solidFill>
                  <a:schemeClr val="tx1"/>
                </a:solidFill>
              </a:rPr>
              <a:t>stockpilot-backend</a:t>
            </a:r>
            <a:endParaRPr lang="en-US" sz="1400" dirty="0"/>
          </a:p>
        </p:txBody>
      </p:sp>
      <p:sp>
        <p:nvSpPr>
          <p:cNvPr id="7" name="card-body-stockpilot-backend"/>
          <p:cNvSpPr txBox="1"/>
          <p:nvPr/>
        </p:nvSpPr>
        <p:spPr>
          <a:xfrm>
            <a:off x="640080" y="1874520"/>
            <a:ext cx="365760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python:3.12-slim, two stages: build a virtualenv, copy only the venv + code.</a:t>
            </a:r>
            <a:endParaRPr lang="en-US" sz="1100" dirty="0"/>
          </a:p>
          <a:p>
            <a:pPr indent="0" marL="0">
              <a:spcAft>
                <a:spcPts val="400"/>
              </a:spcAft>
              <a:buNone/>
            </a:pPr>
            <a:r>
              <a:rPr lang="en-US" sz="1100" dirty="0">
                <a:solidFill>
                  <a:srgbClr val="334155"/>
                </a:solidFill>
              </a:rPr>
              <a:t>pip / setuptools removed from the runtime (fewer CVEs).</a:t>
            </a:r>
            <a:endParaRPr lang="en-US" sz="1100" dirty="0"/>
          </a:p>
          <a:p>
            <a:pPr indent="0" marL="0">
              <a:spcAft>
                <a:spcPts val="400"/>
              </a:spcAft>
              <a:buNone/>
            </a:pPr>
            <a:r>
              <a:rPr lang="en-US" sz="1100" dirty="0">
                <a:solidFill>
                  <a:srgbClr val="334155"/>
                </a:solidFill>
              </a:rPr>
              <a:t>Runs as app (uid 10001); HEALTHCHECK on /health.</a:t>
            </a:r>
            <a:endParaRPr lang="en-US" sz="1100" dirty="0"/>
          </a:p>
          <a:p>
            <a:pPr indent="0" marL="0">
              <a:spcAft>
                <a:spcPts val="400"/>
              </a:spcAft>
              <a:buNone/>
            </a:pPr>
            <a:r>
              <a:rPr lang="en-US" sz="1100" dirty="0">
                <a:solidFill>
                  <a:srgbClr val="334155"/>
                </a:solidFill>
              </a:rPr>
              <a:t>Entrypoint: wait for DB → alembic upgrade head → uvicorn.</a:t>
            </a:r>
            <a:endParaRPr lang="en-US" sz="1100" dirty="0"/>
          </a:p>
        </p:txBody>
      </p:sp>
      <p:sp>
        <p:nvSpPr>
          <p:cNvPr id="8" name="card-stockpilot-frontend"/>
          <p:cNvSpPr/>
          <p:nvPr/>
        </p:nvSpPr>
        <p:spPr>
          <a:xfrm>
            <a:off x="4663440" y="1143000"/>
            <a:ext cx="4023360" cy="2057400"/>
          </a:xfrm>
          <a:prstGeom prst="roundRect">
            <a:avLst>
              <a:gd name="adj" fmla="val 5333"/>
            </a:avLst>
          </a:prstGeom>
          <a:solidFill>
            <a:srgbClr val="EEF2F8"/>
          </a:solidFill>
          <a:ln w="12700">
            <a:solidFill>
              <a:srgbClr val="EEF2F8"/>
            </a:solidFill>
            <a:prstDash val="solid"/>
          </a:ln>
        </p:spPr>
      </p:sp>
      <p:sp>
        <p:nvSpPr>
          <p:cNvPr id="9" name="icon-bg-react"/>
          <p:cNvSpPr/>
          <p:nvPr/>
        </p:nvSpPr>
        <p:spPr>
          <a:xfrm>
            <a:off x="4846320" y="1325880"/>
            <a:ext cx="457200" cy="457200"/>
          </a:xfrm>
          <a:prstGeom prst="ellipse">
            <a:avLst/>
          </a:prstGeom>
          <a:solidFill>
            <a:srgbClr val="0891B2"/>
          </a:solidFill>
          <a:ln w="12700">
            <a:solidFill>
              <a:srgbClr val="0891B2"/>
            </a:solidFill>
            <a:prstDash val="solid"/>
          </a:ln>
        </p:spPr>
      </p:sp>
      <p:pic>
        <p:nvPicPr>
          <p:cNvPr id="10" name="icon-react" descr="preencoded.png">    </p:cNvPr>
          <p:cNvPicPr>
            <a:picLocks noChangeAspect="1"/>
          </p:cNvPicPr>
          <p:nvPr/>
        </p:nvPicPr>
        <p:blipFill>
          <a:blip r:embed="rId2"/>
          <a:stretch>
            <a:fillRect/>
          </a:stretch>
        </p:blipFill>
        <p:spPr>
          <a:xfrm>
            <a:off x="4960620" y="1440180"/>
            <a:ext cx="228600" cy="228600"/>
          </a:xfrm>
          <a:prstGeom prst="rect">
            <a:avLst/>
          </a:prstGeom>
        </p:spPr>
      </p:pic>
      <p:sp>
        <p:nvSpPr>
          <p:cNvPr id="11" name="card-title-stockpilot-frontend"/>
          <p:cNvSpPr txBox="1"/>
          <p:nvPr/>
        </p:nvSpPr>
        <p:spPr>
          <a:xfrm>
            <a:off x="5440680" y="1325880"/>
            <a:ext cx="3063240" cy="457200"/>
          </a:xfrm>
          <a:prstGeom prst="rect">
            <a:avLst/>
          </a:prstGeom>
          <a:noFill/>
          <a:ln/>
        </p:spPr>
        <p:txBody>
          <a:bodyPr wrap="square" lIns="0" tIns="0" rIns="0" bIns="0" rtlCol="0" anchor="ctr"/>
          <a:lstStyle/>
          <a:p>
            <a:pPr indent="0" marL="0">
              <a:buNone/>
            </a:pPr>
            <a:r>
              <a:rPr lang="en-US" sz="1400" b="1" dirty="0">
                <a:solidFill>
                  <a:schemeClr val="tx1"/>
                </a:solidFill>
              </a:rPr>
              <a:t>stockpilot-frontend</a:t>
            </a:r>
            <a:endParaRPr lang="en-US" sz="1400" dirty="0"/>
          </a:p>
        </p:txBody>
      </p:sp>
      <p:sp>
        <p:nvSpPr>
          <p:cNvPr id="12" name="card-body-stockpilot-frontend"/>
          <p:cNvSpPr txBox="1"/>
          <p:nvPr/>
        </p:nvSpPr>
        <p:spPr>
          <a:xfrm>
            <a:off x="4846320" y="1874520"/>
            <a:ext cx="3657600" cy="118872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node:24-alpine builds the Vite bundle; nginx-unprivileged:1.30-alpine serves it.</a:t>
            </a:r>
            <a:endParaRPr lang="en-US" sz="1100" dirty="0"/>
          </a:p>
          <a:p>
            <a:pPr indent="0" marL="0">
              <a:spcAft>
                <a:spcPts val="400"/>
              </a:spcAft>
              <a:buNone/>
            </a:pPr>
            <a:r>
              <a:rPr lang="en-US" sz="1100" dirty="0">
                <a:solidFill>
                  <a:srgbClr val="334155"/>
                </a:solidFill>
              </a:rPr>
              <a:t>Listens on 8080 as user nginx (uid 101).</a:t>
            </a:r>
            <a:endParaRPr lang="en-US" sz="1100" dirty="0"/>
          </a:p>
          <a:p>
            <a:pPr indent="0" marL="0">
              <a:spcAft>
                <a:spcPts val="400"/>
              </a:spcAft>
              <a:buNone/>
            </a:pPr>
            <a:r>
              <a:rPr lang="en-US" sz="1100" dirty="0">
                <a:solidFill>
                  <a:srgbClr val="334155"/>
                </a:solidFill>
              </a:rPr>
              <a:t>BACKEND_URL is templated at start-up, so the same image works in Compose and Kubernetes.</a:t>
            </a:r>
            <a:endParaRPr lang="en-US" sz="1100" dirty="0"/>
          </a:p>
        </p:txBody>
      </p:sp>
      <p:sp>
        <p:nvSpPr>
          <p:cNvPr id="13" name="compose-box"/>
          <p:cNvSpPr/>
          <p:nvPr/>
        </p:nvSpPr>
        <p:spPr>
          <a:xfrm>
            <a:off x="457200" y="3383280"/>
            <a:ext cx="8229600" cy="1143000"/>
          </a:xfrm>
          <a:prstGeom prst="roundRect">
            <a:avLst>
              <a:gd name="adj" fmla="val 8000"/>
            </a:avLst>
          </a:prstGeom>
          <a:solidFill>
            <a:srgbClr val="0F172A"/>
          </a:solidFill>
          <a:ln w="12700">
            <a:solidFill>
              <a:srgbClr val="0F172A"/>
            </a:solidFill>
            <a:prstDash val="solid"/>
          </a:ln>
        </p:spPr>
      </p:sp>
      <p:sp>
        <p:nvSpPr>
          <p:cNvPr id="14" name="icon-bg-docker"/>
          <p:cNvSpPr/>
          <p:nvPr/>
        </p:nvSpPr>
        <p:spPr>
          <a:xfrm>
            <a:off x="640080" y="3721608"/>
            <a:ext cx="457200" cy="457200"/>
          </a:xfrm>
          <a:prstGeom prst="ellipse">
            <a:avLst/>
          </a:prstGeom>
          <a:solidFill>
            <a:srgbClr val="2563EB"/>
          </a:solidFill>
          <a:ln w="12700">
            <a:solidFill>
              <a:srgbClr val="2563EB"/>
            </a:solidFill>
            <a:prstDash val="solid"/>
          </a:ln>
        </p:spPr>
      </p:sp>
      <p:pic>
        <p:nvPicPr>
          <p:cNvPr id="15" name="icon-docker" descr="preencoded.png">    </p:cNvPr>
          <p:cNvPicPr>
            <a:picLocks noChangeAspect="1"/>
          </p:cNvPicPr>
          <p:nvPr/>
        </p:nvPicPr>
        <p:blipFill>
          <a:blip r:embed="rId3"/>
          <a:stretch>
            <a:fillRect/>
          </a:stretch>
        </p:blipFill>
        <p:spPr>
          <a:xfrm>
            <a:off x="754380" y="3835908"/>
            <a:ext cx="228600" cy="228600"/>
          </a:xfrm>
          <a:prstGeom prst="rect">
            <a:avLst/>
          </a:prstGeom>
        </p:spPr>
      </p:pic>
      <p:sp>
        <p:nvSpPr>
          <p:cNvPr id="16" name="compose-text"/>
          <p:cNvSpPr txBox="1"/>
          <p:nvPr/>
        </p:nvSpPr>
        <p:spPr>
          <a:xfrm>
            <a:off x="1280160" y="3474720"/>
            <a:ext cx="7223760" cy="960120"/>
          </a:xfrm>
          <a:prstGeom prst="rect">
            <a:avLst/>
          </a:prstGeom>
          <a:noFill/>
          <a:ln/>
        </p:spPr>
        <p:txBody>
          <a:bodyPr wrap="square" lIns="0" tIns="0" rIns="0" bIns="0" rtlCol="0" anchor="ctr"/>
          <a:lstStyle/>
          <a:p>
            <a:pPr indent="0" marL="0">
              <a:buNone/>
            </a:pPr>
            <a:r>
              <a:rPr lang="en-US" sz="1500" b="1" dirty="0">
                <a:solidFill>
                  <a:srgbClr val="FDE68A"/>
                </a:solidFill>
                <a:latin typeface="Courier New" pitchFamily="34" charset="0"/>
                <a:ea typeface="Courier New" pitchFamily="34" charset="-122"/>
                <a:cs typeface="Courier New" pitchFamily="34" charset="-120"/>
              </a:rPr>
              <a:t>docker compose up --build</a:t>
            </a:r>
            <a:endParaRPr lang="en-US" sz="1500" dirty="0"/>
          </a:p>
          <a:p>
            <a:pPr indent="0" marL="0">
              <a:buNone/>
            </a:pPr>
            <a:r>
              <a:rPr lang="en-US" sz="1200" dirty="0">
                <a:solidFill>
                  <a:srgbClr val="CBD5E1"/>
                </a:solidFill>
              </a:rPr>
              <a:t>postgres:17-alpine (healthcheck) → backend (migrations + seed) → frontend on http://localhost:3000. Image sizes: backend 362 MB, frontend 91 MB.</a:t>
            </a:r>
            <a:endParaRPr lang="en-US" sz="15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CI/CD: GitHub Actions on every push to main</a:t>
            </a:r>
            <a:endParaRPr lang="en-US" sz="2600" dirty="0"/>
          </a:p>
        </p:txBody>
      </p:sp>
      <p:sp>
        <p:nvSpPr>
          <p:cNvPr id="3" name="card-1 · Test"/>
          <p:cNvSpPr/>
          <p:nvPr/>
        </p:nvSpPr>
        <p:spPr>
          <a:xfrm>
            <a:off x="457200" y="1143000"/>
            <a:ext cx="2560320" cy="2194560"/>
          </a:xfrm>
          <a:prstGeom prst="roundRect">
            <a:avLst>
              <a:gd name="adj" fmla="val 5000"/>
            </a:avLst>
          </a:prstGeom>
          <a:solidFill>
            <a:srgbClr val="EEF2F8"/>
          </a:solidFill>
          <a:ln w="12700">
            <a:solidFill>
              <a:srgbClr val="EEF2F8"/>
            </a:solidFill>
            <a:prstDash val="solid"/>
          </a:ln>
        </p:spPr>
      </p:sp>
      <p:sp>
        <p:nvSpPr>
          <p:cNvPr id="4" name="icon-bg-test"/>
          <p:cNvSpPr/>
          <p:nvPr/>
        </p:nvSpPr>
        <p:spPr>
          <a:xfrm>
            <a:off x="640080" y="1325880"/>
            <a:ext cx="457200" cy="457200"/>
          </a:xfrm>
          <a:prstGeom prst="ellipse">
            <a:avLst/>
          </a:prstGeom>
          <a:solidFill>
            <a:srgbClr val="2563EB"/>
          </a:solidFill>
          <a:ln w="12700">
            <a:solidFill>
              <a:srgbClr val="2563EB"/>
            </a:solidFill>
            <a:prstDash val="solid"/>
          </a:ln>
        </p:spPr>
      </p:sp>
      <p:pic>
        <p:nvPicPr>
          <p:cNvPr id="5" name="icon-test"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card-title-1 · Test"/>
          <p:cNvSpPr txBox="1"/>
          <p:nvPr/>
        </p:nvSpPr>
        <p:spPr>
          <a:xfrm>
            <a:off x="1234440" y="132588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1 · Test</a:t>
            </a:r>
            <a:endParaRPr lang="en-US" sz="1400" dirty="0"/>
          </a:p>
        </p:txBody>
      </p:sp>
      <p:sp>
        <p:nvSpPr>
          <p:cNvPr id="7" name="stage-bullets-0"/>
          <p:cNvSpPr txBox="1"/>
          <p:nvPr/>
        </p:nvSpPr>
        <p:spPr>
          <a:xfrm>
            <a:off x="640080" y="1874520"/>
            <a:ext cx="219456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334155"/>
                </a:solidFill>
              </a:rPr>
              <a:t>ruff check + format</a:t>
            </a:r>
            <a:endParaRPr lang="en-US" sz="1100" dirty="0"/>
          </a:p>
          <a:p>
            <a:pPr marL="342900" indent="-342900">
              <a:spcAft>
                <a:spcPts val="400"/>
              </a:spcAft>
              <a:buSzPct val="100000"/>
              <a:buChar char="•"/>
            </a:pPr>
            <a:r>
              <a:rPr lang="en-US" sz="1100" dirty="0">
                <a:solidFill>
                  <a:srgbClr val="334155"/>
                </a:solidFill>
              </a:rPr>
              <a:t>pytest -v with coverage</a:t>
            </a:r>
            <a:endParaRPr lang="en-US" sz="1100" dirty="0"/>
          </a:p>
          <a:p>
            <a:pPr marL="342900" indent="-342900">
              <a:spcAft>
                <a:spcPts val="400"/>
              </a:spcAft>
              <a:buSzPct val="100000"/>
              <a:buChar char="•"/>
            </a:pPr>
            <a:r>
              <a:rPr lang="en-US" sz="1100" dirty="0">
                <a:solidFill>
                  <a:srgbClr val="334155"/>
                </a:solidFill>
              </a:rPr>
              <a:t>npm ci &amp;&amp; npm run build</a:t>
            </a:r>
            <a:endParaRPr lang="en-US" sz="1100" dirty="0"/>
          </a:p>
          <a:p>
            <a:pPr marL="342900" indent="-342900">
              <a:spcAft>
                <a:spcPts val="400"/>
              </a:spcAft>
              <a:buSzPct val="100000"/>
              <a:buChar char="•"/>
            </a:pPr>
            <a:r>
              <a:rPr lang="en-US" sz="1100" dirty="0">
                <a:solidFill>
                  <a:srgbClr val="334155"/>
                </a:solidFill>
              </a:rPr>
              <a:t>helm lint + template</a:t>
            </a:r>
            <a:endParaRPr lang="en-US" sz="1100" dirty="0"/>
          </a:p>
        </p:txBody>
      </p:sp>
      <p:sp>
        <p:nvSpPr>
          <p:cNvPr id="8" name="stage-arrow-0"/>
          <p:cNvSpPr/>
          <p:nvPr/>
        </p:nvSpPr>
        <p:spPr>
          <a:xfrm>
            <a:off x="3035808" y="2194560"/>
            <a:ext cx="274320" cy="274320"/>
          </a:xfrm>
          <a:prstGeom prst="rightArrow">
            <a:avLst/>
          </a:prstGeom>
          <a:solidFill>
            <a:srgbClr val="94A3B8"/>
          </a:solidFill>
          <a:ln w="12700">
            <a:solidFill>
              <a:srgbClr val="94A3B8"/>
            </a:solidFill>
            <a:prstDash val="solid"/>
          </a:ln>
        </p:spPr>
      </p:sp>
      <p:sp>
        <p:nvSpPr>
          <p:cNvPr id="9" name="card-2 · Build · Scan · Push"/>
          <p:cNvSpPr/>
          <p:nvPr/>
        </p:nvSpPr>
        <p:spPr>
          <a:xfrm>
            <a:off x="3291840" y="1143000"/>
            <a:ext cx="2560320" cy="2194560"/>
          </a:xfrm>
          <a:prstGeom prst="roundRect">
            <a:avLst>
              <a:gd name="adj" fmla="val 5000"/>
            </a:avLst>
          </a:prstGeom>
          <a:solidFill>
            <a:srgbClr val="EEF2F8"/>
          </a:solidFill>
          <a:ln w="12700">
            <a:solidFill>
              <a:srgbClr val="EEF2F8"/>
            </a:solidFill>
            <a:prstDash val="solid"/>
          </a:ln>
        </p:spPr>
      </p:sp>
      <p:sp>
        <p:nvSpPr>
          <p:cNvPr id="10" name="icon-bg-shield"/>
          <p:cNvSpPr/>
          <p:nvPr/>
        </p:nvSpPr>
        <p:spPr>
          <a:xfrm>
            <a:off x="3474720" y="1325880"/>
            <a:ext cx="457200" cy="457200"/>
          </a:xfrm>
          <a:prstGeom prst="ellipse">
            <a:avLst/>
          </a:prstGeom>
          <a:solidFill>
            <a:srgbClr val="DC2626"/>
          </a:solidFill>
          <a:ln w="12700">
            <a:solidFill>
              <a:srgbClr val="DC2626"/>
            </a:solidFill>
            <a:prstDash val="solid"/>
          </a:ln>
        </p:spPr>
      </p:sp>
      <p:pic>
        <p:nvPicPr>
          <p:cNvPr id="11" name="icon-shield" descr="preencoded.png">    </p:cNvPr>
          <p:cNvPicPr>
            <a:picLocks noChangeAspect="1"/>
          </p:cNvPicPr>
          <p:nvPr/>
        </p:nvPicPr>
        <p:blipFill>
          <a:blip r:embed="rId2"/>
          <a:stretch>
            <a:fillRect/>
          </a:stretch>
        </p:blipFill>
        <p:spPr>
          <a:xfrm>
            <a:off x="3589020" y="1440180"/>
            <a:ext cx="228600" cy="228600"/>
          </a:xfrm>
          <a:prstGeom prst="rect">
            <a:avLst/>
          </a:prstGeom>
        </p:spPr>
      </p:pic>
      <p:sp>
        <p:nvSpPr>
          <p:cNvPr id="12" name="card-title-2 · Build · Scan · Push"/>
          <p:cNvSpPr txBox="1"/>
          <p:nvPr/>
        </p:nvSpPr>
        <p:spPr>
          <a:xfrm>
            <a:off x="4069080" y="132588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2 · Build · Scan · Push</a:t>
            </a:r>
            <a:endParaRPr lang="en-US" sz="1400" dirty="0"/>
          </a:p>
        </p:txBody>
      </p:sp>
      <p:sp>
        <p:nvSpPr>
          <p:cNvPr id="13" name="stage-bullets-1"/>
          <p:cNvSpPr txBox="1"/>
          <p:nvPr/>
        </p:nvSpPr>
        <p:spPr>
          <a:xfrm>
            <a:off x="3474720" y="1874520"/>
            <a:ext cx="219456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334155"/>
                </a:solidFill>
              </a:rPr>
              <a:t>docker build backend + frontend</a:t>
            </a:r>
            <a:endParaRPr lang="en-US" sz="1100" dirty="0"/>
          </a:p>
          <a:p>
            <a:pPr marL="342900" indent="-342900">
              <a:spcAft>
                <a:spcPts val="400"/>
              </a:spcAft>
              <a:buSzPct val="100000"/>
              <a:buChar char="•"/>
            </a:pPr>
            <a:r>
              <a:rPr lang="en-US" sz="1100" dirty="0">
                <a:solidFill>
                  <a:srgbClr val="334155"/>
                </a:solidFill>
              </a:rPr>
              <a:t>Trivy HIGH/CRITICAL, exit-code 1</a:t>
            </a:r>
            <a:endParaRPr lang="en-US" sz="1100" dirty="0"/>
          </a:p>
          <a:p>
            <a:pPr marL="342900" indent="-342900">
              <a:spcAft>
                <a:spcPts val="400"/>
              </a:spcAft>
              <a:buSzPct val="100000"/>
              <a:buChar char="•"/>
            </a:pPr>
            <a:r>
              <a:rPr lang="en-US" sz="1100" dirty="0">
                <a:solidFill>
                  <a:srgbClr val="334155"/>
                </a:solidFill>
              </a:rPr>
              <a:t>push ghcr.io/…:&lt;git-sha&gt;</a:t>
            </a:r>
            <a:endParaRPr lang="en-US" sz="1100" dirty="0"/>
          </a:p>
          <a:p>
            <a:pPr marL="342900" indent="-342900">
              <a:spcAft>
                <a:spcPts val="400"/>
              </a:spcAft>
              <a:buSzPct val="100000"/>
              <a:buChar char="•"/>
            </a:pPr>
            <a:r>
              <a:rPr lang="en-US" sz="1100" dirty="0">
                <a:solidFill>
                  <a:srgbClr val="334155"/>
                </a:solidFill>
              </a:rPr>
              <a:t>SARIF to Security tab</a:t>
            </a:r>
            <a:endParaRPr lang="en-US" sz="1100" dirty="0"/>
          </a:p>
        </p:txBody>
      </p:sp>
      <p:sp>
        <p:nvSpPr>
          <p:cNvPr id="14" name="stage-arrow-1"/>
          <p:cNvSpPr/>
          <p:nvPr/>
        </p:nvSpPr>
        <p:spPr>
          <a:xfrm>
            <a:off x="5870448" y="2194560"/>
            <a:ext cx="274320" cy="274320"/>
          </a:xfrm>
          <a:prstGeom prst="rightArrow">
            <a:avLst/>
          </a:prstGeom>
          <a:solidFill>
            <a:srgbClr val="94A3B8"/>
          </a:solidFill>
          <a:ln w="12700">
            <a:solidFill>
              <a:srgbClr val="94A3B8"/>
            </a:solidFill>
            <a:prstDash val="solid"/>
          </a:ln>
        </p:spPr>
      </p:sp>
      <p:sp>
        <p:nvSpPr>
          <p:cNvPr id="15" name="card-3 · Deploy (main only)"/>
          <p:cNvSpPr/>
          <p:nvPr/>
        </p:nvSpPr>
        <p:spPr>
          <a:xfrm>
            <a:off x="6126480" y="1143000"/>
            <a:ext cx="2560320" cy="2194560"/>
          </a:xfrm>
          <a:prstGeom prst="roundRect">
            <a:avLst>
              <a:gd name="adj" fmla="val 5000"/>
            </a:avLst>
          </a:prstGeom>
          <a:solidFill>
            <a:srgbClr val="EEF2F8"/>
          </a:solidFill>
          <a:ln w="12700">
            <a:solidFill>
              <a:srgbClr val="EEF2F8"/>
            </a:solidFill>
            <a:prstDash val="solid"/>
          </a:ln>
        </p:spPr>
      </p:sp>
      <p:sp>
        <p:nvSpPr>
          <p:cNvPr id="16" name="icon-bg-rocket"/>
          <p:cNvSpPr/>
          <p:nvPr/>
        </p:nvSpPr>
        <p:spPr>
          <a:xfrm>
            <a:off x="6309360" y="1325880"/>
            <a:ext cx="457200" cy="457200"/>
          </a:xfrm>
          <a:prstGeom prst="ellipse">
            <a:avLst/>
          </a:prstGeom>
          <a:solidFill>
            <a:srgbClr val="16A34A"/>
          </a:solidFill>
          <a:ln w="12700">
            <a:solidFill>
              <a:srgbClr val="16A34A"/>
            </a:solidFill>
            <a:prstDash val="solid"/>
          </a:ln>
        </p:spPr>
      </p:sp>
      <p:pic>
        <p:nvPicPr>
          <p:cNvPr id="17" name="icon-rocket" descr="preencoded.png">    </p:cNvPr>
          <p:cNvPicPr>
            <a:picLocks noChangeAspect="1"/>
          </p:cNvPicPr>
          <p:nvPr/>
        </p:nvPicPr>
        <p:blipFill>
          <a:blip r:embed="rId3"/>
          <a:stretch>
            <a:fillRect/>
          </a:stretch>
        </p:blipFill>
        <p:spPr>
          <a:xfrm>
            <a:off x="6423660" y="1440180"/>
            <a:ext cx="228600" cy="228600"/>
          </a:xfrm>
          <a:prstGeom prst="rect">
            <a:avLst/>
          </a:prstGeom>
        </p:spPr>
      </p:pic>
      <p:sp>
        <p:nvSpPr>
          <p:cNvPr id="18" name="card-title-3 · Deploy (main only)"/>
          <p:cNvSpPr txBox="1"/>
          <p:nvPr/>
        </p:nvSpPr>
        <p:spPr>
          <a:xfrm>
            <a:off x="6903720" y="132588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3 · Deploy (main only)</a:t>
            </a:r>
            <a:endParaRPr lang="en-US" sz="1400" dirty="0"/>
          </a:p>
        </p:txBody>
      </p:sp>
      <p:sp>
        <p:nvSpPr>
          <p:cNvPr id="19" name="stage-bullets-2"/>
          <p:cNvSpPr txBox="1"/>
          <p:nvPr/>
        </p:nvSpPr>
        <p:spPr>
          <a:xfrm>
            <a:off x="6309360" y="1874520"/>
            <a:ext cx="219456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334155"/>
                </a:solidFill>
              </a:rPr>
              <a:t>decode KUBE_CONFIG_DATA</a:t>
            </a:r>
            <a:endParaRPr lang="en-US" sz="1100" dirty="0"/>
          </a:p>
          <a:p>
            <a:pPr marL="342900" indent="-342900">
              <a:spcAft>
                <a:spcPts val="400"/>
              </a:spcAft>
              <a:buSzPct val="100000"/>
              <a:buChar char="•"/>
            </a:pPr>
            <a:r>
              <a:rPr lang="en-US" sz="1100" dirty="0">
                <a:solidFill>
                  <a:srgbClr val="334155"/>
                </a:solidFill>
              </a:rPr>
              <a:t>namespace + GHCR pull secret</a:t>
            </a:r>
            <a:endParaRPr lang="en-US" sz="1100" dirty="0"/>
          </a:p>
          <a:p>
            <a:pPr marL="342900" indent="-342900">
              <a:spcAft>
                <a:spcPts val="400"/>
              </a:spcAft>
              <a:buSzPct val="100000"/>
              <a:buChar char="•"/>
            </a:pPr>
            <a:r>
              <a:rPr lang="en-US" sz="1100" dirty="0">
                <a:solidFill>
                  <a:srgbClr val="334155"/>
                </a:solidFill>
              </a:rPr>
              <a:t>helm upgrade --install --set tag=&lt;sha&gt;</a:t>
            </a:r>
            <a:endParaRPr lang="en-US" sz="1100" dirty="0"/>
          </a:p>
          <a:p>
            <a:pPr marL="342900" indent="-342900">
              <a:spcAft>
                <a:spcPts val="400"/>
              </a:spcAft>
              <a:buSzPct val="100000"/>
              <a:buChar char="•"/>
            </a:pPr>
            <a:r>
              <a:rPr lang="en-US" sz="1100" dirty="0">
                <a:solidFill>
                  <a:srgbClr val="334155"/>
                </a:solidFill>
              </a:rPr>
              <a:t>kubectl rollout status</a:t>
            </a:r>
            <a:endParaRPr lang="en-US" sz="1100" dirty="0"/>
          </a:p>
        </p:txBody>
      </p:sp>
      <p:sp>
        <p:nvSpPr>
          <p:cNvPr id="20" name="card-No secrets in Git"/>
          <p:cNvSpPr/>
          <p:nvPr/>
        </p:nvSpPr>
        <p:spPr>
          <a:xfrm>
            <a:off x="457200" y="3520440"/>
            <a:ext cx="4023360" cy="1097280"/>
          </a:xfrm>
          <a:prstGeom prst="roundRect">
            <a:avLst>
              <a:gd name="adj" fmla="val 10000"/>
            </a:avLst>
          </a:prstGeom>
          <a:solidFill>
            <a:srgbClr val="EEF2F8"/>
          </a:solidFill>
          <a:ln w="12700">
            <a:solidFill>
              <a:srgbClr val="EEF2F8"/>
            </a:solidFill>
            <a:prstDash val="solid"/>
          </a:ln>
        </p:spPr>
      </p:sp>
      <p:sp>
        <p:nvSpPr>
          <p:cNvPr id="21" name="icon-bg-lock"/>
          <p:cNvSpPr/>
          <p:nvPr/>
        </p:nvSpPr>
        <p:spPr>
          <a:xfrm>
            <a:off x="640080" y="3703320"/>
            <a:ext cx="457200" cy="457200"/>
          </a:xfrm>
          <a:prstGeom prst="ellipse">
            <a:avLst/>
          </a:prstGeom>
          <a:solidFill>
            <a:srgbClr val="1E3A8A"/>
          </a:solidFill>
          <a:ln w="12700">
            <a:solidFill>
              <a:srgbClr val="1E3A8A"/>
            </a:solidFill>
            <a:prstDash val="solid"/>
          </a:ln>
        </p:spPr>
      </p:sp>
      <p:pic>
        <p:nvPicPr>
          <p:cNvPr id="22" name="icon-lock" descr="preencoded.png">    </p:cNvPr>
          <p:cNvPicPr>
            <a:picLocks noChangeAspect="1"/>
          </p:cNvPicPr>
          <p:nvPr/>
        </p:nvPicPr>
        <p:blipFill>
          <a:blip r:embed="rId4"/>
          <a:stretch>
            <a:fillRect/>
          </a:stretch>
        </p:blipFill>
        <p:spPr>
          <a:xfrm>
            <a:off x="754380" y="3817620"/>
            <a:ext cx="228600" cy="228600"/>
          </a:xfrm>
          <a:prstGeom prst="rect">
            <a:avLst/>
          </a:prstGeom>
        </p:spPr>
      </p:pic>
      <p:sp>
        <p:nvSpPr>
          <p:cNvPr id="23" name="card-title-No secrets in Git"/>
          <p:cNvSpPr txBox="1"/>
          <p:nvPr/>
        </p:nvSpPr>
        <p:spPr>
          <a:xfrm>
            <a:off x="1234440" y="3703320"/>
            <a:ext cx="3063240" cy="457200"/>
          </a:xfrm>
          <a:prstGeom prst="rect">
            <a:avLst/>
          </a:prstGeom>
          <a:noFill/>
          <a:ln/>
        </p:spPr>
        <p:txBody>
          <a:bodyPr wrap="square" lIns="0" tIns="0" rIns="0" bIns="0" rtlCol="0" anchor="ctr"/>
          <a:lstStyle/>
          <a:p>
            <a:pPr indent="0" marL="0">
              <a:buNone/>
            </a:pPr>
            <a:r>
              <a:rPr lang="en-US" sz="1400" b="1" dirty="0">
                <a:solidFill>
                  <a:schemeClr val="tx1"/>
                </a:solidFill>
              </a:rPr>
              <a:t>No secrets in Git</a:t>
            </a:r>
            <a:endParaRPr lang="en-US" sz="1400" dirty="0"/>
          </a:p>
        </p:txBody>
      </p:sp>
      <p:sp>
        <p:nvSpPr>
          <p:cNvPr id="24" name="card-body-No secrets in Git"/>
          <p:cNvSpPr txBox="1"/>
          <p:nvPr/>
        </p:nvSpPr>
        <p:spPr>
          <a:xfrm>
            <a:off x="640080" y="4251960"/>
            <a:ext cx="3657600" cy="228600"/>
          </a:xfrm>
          <a:prstGeom prst="rect">
            <a:avLst/>
          </a:prstGeom>
          <a:noFill/>
          <a:ln/>
        </p:spPr>
        <p:txBody>
          <a:bodyPr wrap="square" lIns="0" tIns="0" rIns="0" bIns="0" rtlCol="0" anchor="t"/>
          <a:lstStyle/>
          <a:p>
            <a:pPr indent="0" marL="0">
              <a:spcAft>
                <a:spcPts val="400"/>
              </a:spcAft>
              <a:buNone/>
            </a:pPr>
            <a:r>
              <a:rPr lang="en-US" sz="1000" dirty="0">
                <a:solidFill>
                  <a:srgbClr val="334155"/>
                </a:solidFill>
              </a:rPr>
              <a:t>GITHUB_TOKEN for GHCR, KUBE_CONFIG_DATA as a repository secret. Deploy skips with a warning if it is missing.</a:t>
            </a:r>
            <a:endParaRPr lang="en-US" sz="1000" dirty="0"/>
          </a:p>
        </p:txBody>
      </p:sp>
      <p:sp>
        <p:nvSpPr>
          <p:cNvPr id="25" name="card-Tag = commit SHA, never only latest"/>
          <p:cNvSpPr/>
          <p:nvPr/>
        </p:nvSpPr>
        <p:spPr>
          <a:xfrm>
            <a:off x="4663440" y="3520440"/>
            <a:ext cx="4023360" cy="1097280"/>
          </a:xfrm>
          <a:prstGeom prst="roundRect">
            <a:avLst>
              <a:gd name="adj" fmla="val 10000"/>
            </a:avLst>
          </a:prstGeom>
          <a:solidFill>
            <a:srgbClr val="EEF2F8"/>
          </a:solidFill>
          <a:ln w="12700">
            <a:solidFill>
              <a:srgbClr val="EEF2F8"/>
            </a:solidFill>
            <a:prstDash val="solid"/>
          </a:ln>
        </p:spPr>
      </p:sp>
      <p:sp>
        <p:nvSpPr>
          <p:cNvPr id="26" name="icon-bg-git"/>
          <p:cNvSpPr/>
          <p:nvPr/>
        </p:nvSpPr>
        <p:spPr>
          <a:xfrm>
            <a:off x="4846320" y="3703320"/>
            <a:ext cx="457200" cy="457200"/>
          </a:xfrm>
          <a:prstGeom prst="ellipse">
            <a:avLst/>
          </a:prstGeom>
          <a:solidFill>
            <a:srgbClr val="1E3A8A"/>
          </a:solidFill>
          <a:ln w="12700">
            <a:solidFill>
              <a:srgbClr val="1E3A8A"/>
            </a:solidFill>
            <a:prstDash val="solid"/>
          </a:ln>
        </p:spPr>
      </p:sp>
      <p:pic>
        <p:nvPicPr>
          <p:cNvPr id="27" name="icon-git" descr="preencoded.png">    </p:cNvPr>
          <p:cNvPicPr>
            <a:picLocks noChangeAspect="1"/>
          </p:cNvPicPr>
          <p:nvPr/>
        </p:nvPicPr>
        <p:blipFill>
          <a:blip r:embed="rId5"/>
          <a:stretch>
            <a:fillRect/>
          </a:stretch>
        </p:blipFill>
        <p:spPr>
          <a:xfrm>
            <a:off x="4960620" y="3817620"/>
            <a:ext cx="228600" cy="228600"/>
          </a:xfrm>
          <a:prstGeom prst="rect">
            <a:avLst/>
          </a:prstGeom>
        </p:spPr>
      </p:pic>
      <p:sp>
        <p:nvSpPr>
          <p:cNvPr id="28" name="card-title-Tag = commit SHA, never only latest"/>
          <p:cNvSpPr txBox="1"/>
          <p:nvPr/>
        </p:nvSpPr>
        <p:spPr>
          <a:xfrm>
            <a:off x="5440680" y="3703320"/>
            <a:ext cx="3063240" cy="457200"/>
          </a:xfrm>
          <a:prstGeom prst="rect">
            <a:avLst/>
          </a:prstGeom>
          <a:noFill/>
          <a:ln/>
        </p:spPr>
        <p:txBody>
          <a:bodyPr wrap="square" lIns="0" tIns="0" rIns="0" bIns="0" rtlCol="0" anchor="ctr"/>
          <a:lstStyle/>
          <a:p>
            <a:pPr indent="0" marL="0">
              <a:buNone/>
            </a:pPr>
            <a:r>
              <a:rPr lang="en-US" sz="1400" b="1" dirty="0">
                <a:solidFill>
                  <a:schemeClr val="tx1"/>
                </a:solidFill>
              </a:rPr>
              <a:t>Tag = commit SHA, never only latest</a:t>
            </a:r>
            <a:endParaRPr lang="en-US" sz="1400" dirty="0"/>
          </a:p>
        </p:txBody>
      </p:sp>
      <p:sp>
        <p:nvSpPr>
          <p:cNvPr id="29" name="card-body-Tag = commit SHA, never only latest"/>
          <p:cNvSpPr txBox="1"/>
          <p:nvPr/>
        </p:nvSpPr>
        <p:spPr>
          <a:xfrm>
            <a:off x="4846320" y="4251960"/>
            <a:ext cx="3657600" cy="228600"/>
          </a:xfrm>
          <a:prstGeom prst="rect">
            <a:avLst/>
          </a:prstGeom>
          <a:noFill/>
          <a:ln/>
        </p:spPr>
        <p:txBody>
          <a:bodyPr wrap="square" lIns="0" tIns="0" rIns="0" bIns="0" rtlCol="0" anchor="t"/>
          <a:lstStyle/>
          <a:p>
            <a:pPr indent="0" marL="0">
              <a:spcAft>
                <a:spcPts val="400"/>
              </a:spcAft>
              <a:buNone/>
            </a:pPr>
            <a:r>
              <a:rPr lang="en-US" sz="1000" dirty="0">
                <a:solidFill>
                  <a:srgbClr val="334155"/>
                </a:solidFill>
              </a:rPr>
              <a:t>Pull requests run test + build + scan but never push or deploy. Buildx cache keeps builds fast.</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DevSecOps: Trivy findings and the fix</a:t>
            </a:r>
            <a:endParaRPr lang="en-US" sz="2600" dirty="0"/>
          </a:p>
        </p:txBody>
      </p:sp>
      <p:sp>
        <p:nvSpPr>
          <p:cNvPr id="3" name="card-First scan: 4 HIGH in the backend"/>
          <p:cNvSpPr/>
          <p:nvPr/>
        </p:nvSpPr>
        <p:spPr>
          <a:xfrm>
            <a:off x="457200" y="1143000"/>
            <a:ext cx="4023360" cy="1554480"/>
          </a:xfrm>
          <a:prstGeom prst="roundRect">
            <a:avLst>
              <a:gd name="adj" fmla="val 7059"/>
            </a:avLst>
          </a:prstGeom>
          <a:solidFill>
            <a:srgbClr val="EEF2F8"/>
          </a:solidFill>
          <a:ln w="12700">
            <a:solidFill>
              <a:srgbClr val="EEF2F8"/>
            </a:solidFill>
            <a:prstDash val="solid"/>
          </a:ln>
        </p:spPr>
      </p:sp>
      <p:sp>
        <p:nvSpPr>
          <p:cNvPr id="4" name="icon-bg-bug"/>
          <p:cNvSpPr/>
          <p:nvPr/>
        </p:nvSpPr>
        <p:spPr>
          <a:xfrm>
            <a:off x="640080" y="1325880"/>
            <a:ext cx="457200" cy="457200"/>
          </a:xfrm>
          <a:prstGeom prst="ellipse">
            <a:avLst/>
          </a:prstGeom>
          <a:solidFill>
            <a:srgbClr val="DC2626"/>
          </a:solidFill>
          <a:ln w="12700">
            <a:solidFill>
              <a:srgbClr val="DC2626"/>
            </a:solidFill>
            <a:prstDash val="solid"/>
          </a:ln>
        </p:spPr>
      </p:sp>
      <p:pic>
        <p:nvPicPr>
          <p:cNvPr id="5" name="icon-bug"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card-title-First scan: 4 HIGH in the backend"/>
          <p:cNvSpPr txBox="1"/>
          <p:nvPr/>
        </p:nvSpPr>
        <p:spPr>
          <a:xfrm>
            <a:off x="1234440" y="1325880"/>
            <a:ext cx="3063240" cy="457200"/>
          </a:xfrm>
          <a:prstGeom prst="rect">
            <a:avLst/>
          </a:prstGeom>
          <a:noFill/>
          <a:ln/>
        </p:spPr>
        <p:txBody>
          <a:bodyPr wrap="square" lIns="0" tIns="0" rIns="0" bIns="0" rtlCol="0" anchor="ctr"/>
          <a:lstStyle/>
          <a:p>
            <a:pPr indent="0" marL="0">
              <a:buNone/>
            </a:pPr>
            <a:r>
              <a:rPr lang="en-US" sz="1400" b="1" dirty="0">
                <a:solidFill>
                  <a:schemeClr val="tx1"/>
                </a:solidFill>
              </a:rPr>
              <a:t>First scan: 4 HIGH in the backend</a:t>
            </a:r>
            <a:endParaRPr lang="en-US" sz="1400" dirty="0"/>
          </a:p>
        </p:txBody>
      </p:sp>
      <p:sp>
        <p:nvSpPr>
          <p:cNvPr id="7" name="card-body-First scan: 4 HIGH in the backend"/>
          <p:cNvSpPr txBox="1"/>
          <p:nvPr/>
        </p:nvSpPr>
        <p:spPr>
          <a:xfrm>
            <a:off x="640080" y="1874520"/>
            <a:ext cx="3657600" cy="685800"/>
          </a:xfrm>
          <a:prstGeom prst="rect">
            <a:avLst/>
          </a:prstGeom>
          <a:noFill/>
          <a:ln/>
        </p:spPr>
        <p:txBody>
          <a:bodyPr wrap="square" lIns="0" tIns="0" rIns="0" bIns="0" rtlCol="0" anchor="t"/>
          <a:lstStyle/>
          <a:p>
            <a:pPr indent="0" marL="0">
              <a:spcAft>
                <a:spcPts val="400"/>
              </a:spcAft>
              <a:buNone/>
            </a:pPr>
            <a:r>
              <a:rPr lang="en-US" sz="1200" dirty="0">
                <a:solidFill>
                  <a:srgbClr val="334155"/>
                </a:solidFill>
              </a:rPr>
              <a:t>setuptools 70.3.0 (CVE-2025-47273 path traversal) plus urllib3 and msgpack vendored inside pip. None came from StockPilot's own requirements: all shipped with the python:3.12-slim installer tooling.</a:t>
            </a:r>
            <a:endParaRPr lang="en-US" sz="1200" dirty="0"/>
          </a:p>
        </p:txBody>
      </p:sp>
      <p:sp>
        <p:nvSpPr>
          <p:cNvPr id="8" name="card-Fix: multi-stage image, no pip at runtime"/>
          <p:cNvSpPr/>
          <p:nvPr/>
        </p:nvSpPr>
        <p:spPr>
          <a:xfrm>
            <a:off x="457200" y="2880360"/>
            <a:ext cx="4023360" cy="1600200"/>
          </a:xfrm>
          <a:prstGeom prst="roundRect">
            <a:avLst>
              <a:gd name="adj" fmla="val 6857"/>
            </a:avLst>
          </a:prstGeom>
          <a:solidFill>
            <a:srgbClr val="EEF2F8"/>
          </a:solidFill>
          <a:ln w="12700">
            <a:solidFill>
              <a:srgbClr val="EEF2F8"/>
            </a:solidFill>
            <a:prstDash val="solid"/>
          </a:ln>
        </p:spPr>
      </p:sp>
      <p:sp>
        <p:nvSpPr>
          <p:cNvPr id="9" name="icon-bg-check"/>
          <p:cNvSpPr/>
          <p:nvPr/>
        </p:nvSpPr>
        <p:spPr>
          <a:xfrm>
            <a:off x="640080" y="3063240"/>
            <a:ext cx="457200" cy="457200"/>
          </a:xfrm>
          <a:prstGeom prst="ellipse">
            <a:avLst/>
          </a:prstGeom>
          <a:solidFill>
            <a:srgbClr val="16A34A"/>
          </a:solidFill>
          <a:ln w="12700">
            <a:solidFill>
              <a:srgbClr val="16A34A"/>
            </a:solidFill>
            <a:prstDash val="solid"/>
          </a:ln>
        </p:spPr>
      </p:sp>
      <p:pic>
        <p:nvPicPr>
          <p:cNvPr id="10" name="icon-check" descr="preencoded.png">    </p:cNvPr>
          <p:cNvPicPr>
            <a:picLocks noChangeAspect="1"/>
          </p:cNvPicPr>
          <p:nvPr/>
        </p:nvPicPr>
        <p:blipFill>
          <a:blip r:embed="rId2"/>
          <a:stretch>
            <a:fillRect/>
          </a:stretch>
        </p:blipFill>
        <p:spPr>
          <a:xfrm>
            <a:off x="754380" y="3177540"/>
            <a:ext cx="228600" cy="228600"/>
          </a:xfrm>
          <a:prstGeom prst="rect">
            <a:avLst/>
          </a:prstGeom>
        </p:spPr>
      </p:pic>
      <p:sp>
        <p:nvSpPr>
          <p:cNvPr id="11" name="card-title-Fix: multi-stage image, no pip at runtime"/>
          <p:cNvSpPr txBox="1"/>
          <p:nvPr/>
        </p:nvSpPr>
        <p:spPr>
          <a:xfrm>
            <a:off x="1234440" y="3063240"/>
            <a:ext cx="3063240" cy="457200"/>
          </a:xfrm>
          <a:prstGeom prst="rect">
            <a:avLst/>
          </a:prstGeom>
          <a:noFill/>
          <a:ln/>
        </p:spPr>
        <p:txBody>
          <a:bodyPr wrap="square" lIns="0" tIns="0" rIns="0" bIns="0" rtlCol="0" anchor="ctr"/>
          <a:lstStyle/>
          <a:p>
            <a:pPr indent="0" marL="0">
              <a:buNone/>
            </a:pPr>
            <a:r>
              <a:rPr lang="en-US" sz="1400" b="1" dirty="0">
                <a:solidFill>
                  <a:schemeClr val="tx1"/>
                </a:solidFill>
              </a:rPr>
              <a:t>Fix: multi-stage image, no pip at runtime</a:t>
            </a:r>
            <a:endParaRPr lang="en-US" sz="1400" dirty="0"/>
          </a:p>
        </p:txBody>
      </p:sp>
      <p:sp>
        <p:nvSpPr>
          <p:cNvPr id="12" name="card-body-Fix: multi-stage image, no pip at runtime"/>
          <p:cNvSpPr txBox="1"/>
          <p:nvPr/>
        </p:nvSpPr>
        <p:spPr>
          <a:xfrm>
            <a:off x="640080" y="3611880"/>
            <a:ext cx="3657600" cy="731520"/>
          </a:xfrm>
          <a:prstGeom prst="rect">
            <a:avLst/>
          </a:prstGeom>
          <a:noFill/>
          <a:ln/>
        </p:spPr>
        <p:txBody>
          <a:bodyPr wrap="square" lIns="0" tIns="0" rIns="0" bIns="0" rtlCol="0" anchor="t"/>
          <a:lstStyle/>
          <a:p>
            <a:pPr indent="0" marL="0">
              <a:spcAft>
                <a:spcPts val="400"/>
              </a:spcAft>
              <a:buNone/>
            </a:pPr>
            <a:r>
              <a:rPr lang="en-US" sz="1200" dirty="0">
                <a:solidFill>
                  <a:srgbClr val="334155"/>
                </a:solidFill>
              </a:rPr>
              <a:t>Build the virtualenv in stage 1, copy only the venv into stage 2 and delete pip / setuptools. Result: 0 HIGH/CRITICAL on both images, smaller attack surface, and the CI gate (exit-code 1) stays enforceable.</a:t>
            </a:r>
            <a:endParaRPr lang="en-US" sz="1200" dirty="0"/>
          </a:p>
        </p:txBody>
      </p:sp>
      <p:pic>
        <p:nvPicPr>
          <p:cNvPr id="13" name="trivy-backend" descr="/Users/vibhutibhatnagar/Desktop/SST STUDY/DEVOPS CAPSTONE PROJECT/docs/screenshots/19-trivy-backend.png">    </p:cNvPr>
          <p:cNvPicPr>
            <a:picLocks noChangeAspect="1"/>
          </p:cNvPicPr>
          <p:nvPr/>
        </p:nvPicPr>
        <p:blipFill>
          <a:blip r:embed="rId3"/>
          <a:stretch>
            <a:fillRect/>
          </a:stretch>
        </p:blipFill>
        <p:spPr>
          <a:xfrm>
            <a:off x="4663440" y="1143000"/>
            <a:ext cx="4023360" cy="1234440"/>
          </a:xfrm>
          <a:prstGeom prst="rect">
            <a:avLst/>
          </a:prstGeom>
          <a:effectLst>
            <a:outerShdw sx="100000" sy="100000" kx="0" ky="0" algn="bl" rotWithShape="0" blurRad="101600" dist="38100" dir="5400000">
              <a:srgbClr val="000000">
                <a:alpha val="25000"/>
              </a:srgbClr>
            </a:outerShdw>
          </a:effectLst>
        </p:spPr>
      </p:pic>
      <p:pic>
        <p:nvPicPr>
          <p:cNvPr id="14" name="trivy-frontend" descr="/Users/vibhutibhatnagar/Desktop/SST STUDY/DEVOPS CAPSTONE PROJECT/docs/screenshots/20-trivy-frontend.png">    </p:cNvPr>
          <p:cNvPicPr>
            <a:picLocks noChangeAspect="1"/>
          </p:cNvPicPr>
          <p:nvPr/>
        </p:nvPicPr>
        <p:blipFill>
          <a:blip r:embed="rId4"/>
          <a:stretch>
            <a:fillRect/>
          </a:stretch>
        </p:blipFill>
        <p:spPr>
          <a:xfrm>
            <a:off x="4663440" y="2560320"/>
            <a:ext cx="4023360" cy="1234440"/>
          </a:xfrm>
          <a:prstGeom prst="rect">
            <a:avLst/>
          </a:prstGeom>
          <a:effectLst>
            <a:outerShdw sx="100000" sy="100000" kx="0" ky="0" algn="bl" rotWithShape="0" blurRad="101600" dist="38100" dir="5400000">
              <a:srgbClr val="000000">
                <a:alpha val="25000"/>
              </a:srgbClr>
            </a:outerShdw>
          </a:effectLst>
        </p:spPr>
      </p:pic>
      <p:sp>
        <p:nvSpPr>
          <p:cNvPr id="15" name="trivy-note"/>
          <p:cNvSpPr txBox="1"/>
          <p:nvPr/>
        </p:nvSpPr>
        <p:spPr>
          <a:xfrm>
            <a:off x="4663440" y="3931920"/>
            <a:ext cx="4023360" cy="640080"/>
          </a:xfrm>
          <a:prstGeom prst="rect">
            <a:avLst/>
          </a:prstGeom>
          <a:noFill/>
          <a:ln/>
        </p:spPr>
        <p:txBody>
          <a:bodyPr wrap="square" lIns="0" tIns="0" rIns="0" bIns="0" rtlCol="0" anchor="t"/>
          <a:lstStyle/>
          <a:p>
            <a:pPr indent="0" marL="0">
              <a:buNone/>
            </a:pPr>
            <a:r>
              <a:rPr lang="en-US" sz="1000" i="1" dirty="0">
                <a:solidFill>
                  <a:srgbClr val="475569"/>
                </a:solidFill>
              </a:rPr>
              <a:t>Trivy scans the OS package database (Debian 13 / Alpine 3.24) and Python dist-info metadata. "Clean" means no known, fixable HIGH/CRITICAL CVE at scan time: one automated control, not a guarantee.</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Infrastructure as code: AWS VPC + EKS</a:t>
            </a:r>
            <a:endParaRPr lang="en-US" sz="2600" dirty="0"/>
          </a:p>
        </p:txBody>
      </p:sp>
      <p:sp>
        <p:nvSpPr>
          <p:cNvPr id="3" name="vpc-box"/>
          <p:cNvSpPr/>
          <p:nvPr/>
        </p:nvSpPr>
        <p:spPr>
          <a:xfrm>
            <a:off x="457200" y="1143000"/>
            <a:ext cx="4754880" cy="3383280"/>
          </a:xfrm>
          <a:prstGeom prst="roundRect">
            <a:avLst>
              <a:gd name="adj" fmla="val 2703"/>
            </a:avLst>
          </a:prstGeom>
          <a:solidFill>
            <a:srgbClr val="EEF2F8"/>
          </a:solidFill>
          <a:ln w="12700">
            <a:solidFill>
              <a:srgbClr val="CBD5E1"/>
            </a:solidFill>
            <a:prstDash val="solid"/>
          </a:ln>
        </p:spPr>
      </p:sp>
      <p:sp>
        <p:nvSpPr>
          <p:cNvPr id="4" name="vpc-label"/>
          <p:cNvSpPr txBox="1"/>
          <p:nvPr/>
        </p:nvSpPr>
        <p:spPr>
          <a:xfrm>
            <a:off x="594360" y="1207008"/>
            <a:ext cx="4480560" cy="274320"/>
          </a:xfrm>
          <a:prstGeom prst="rect">
            <a:avLst/>
          </a:prstGeom>
          <a:noFill/>
          <a:ln/>
        </p:spPr>
        <p:txBody>
          <a:bodyPr wrap="square" lIns="0" tIns="0" rIns="0" bIns="0" rtlCol="0" anchor="ctr"/>
          <a:lstStyle/>
          <a:p>
            <a:pPr indent="0" marL="0">
              <a:buNone/>
            </a:pPr>
            <a:r>
              <a:rPr lang="en-US" sz="1100" b="1" dirty="0">
                <a:solidFill>
                  <a:schemeClr val="tx1"/>
                </a:solidFill>
              </a:rPr>
              <a:t>VPC 10.20.0.0/16  ·  ap-south-1  ·  Internet Gateway</a:t>
            </a:r>
            <a:endParaRPr lang="en-US" sz="1100" dirty="0"/>
          </a:p>
        </p:txBody>
      </p:sp>
      <p:sp>
        <p:nvSpPr>
          <p:cNvPr id="5" name="subnet-Public subnet · 1a"/>
          <p:cNvSpPr/>
          <p:nvPr/>
        </p:nvSpPr>
        <p:spPr>
          <a:xfrm>
            <a:off x="594360" y="1600200"/>
            <a:ext cx="2194560" cy="1097280"/>
          </a:xfrm>
          <a:prstGeom prst="roundRect">
            <a:avLst>
              <a:gd name="adj" fmla="val 6667"/>
            </a:avLst>
          </a:prstGeom>
          <a:solidFill>
            <a:srgbClr val="FFFFFF"/>
          </a:solidFill>
          <a:ln w="19050">
            <a:solidFill>
              <a:srgbClr val="0891B2"/>
            </a:solidFill>
            <a:prstDash val="solid"/>
          </a:ln>
        </p:spPr>
      </p:sp>
      <p:sp>
        <p:nvSpPr>
          <p:cNvPr id="6" name="subnet-text-Public subnet · 1a"/>
          <p:cNvSpPr txBox="1"/>
          <p:nvPr/>
        </p:nvSpPr>
        <p:spPr>
          <a:xfrm>
            <a:off x="704088" y="1673352"/>
            <a:ext cx="2011680" cy="960120"/>
          </a:xfrm>
          <a:prstGeom prst="rect">
            <a:avLst/>
          </a:prstGeom>
          <a:noFill/>
          <a:ln/>
        </p:spPr>
        <p:txBody>
          <a:bodyPr wrap="square" lIns="0" tIns="0" rIns="0" bIns="0" rtlCol="0" anchor="t"/>
          <a:lstStyle/>
          <a:p>
            <a:pPr indent="0" marL="0">
              <a:buNone/>
            </a:pPr>
            <a:r>
              <a:rPr lang="en-US" sz="1100" b="1" dirty="0">
                <a:solidFill>
                  <a:srgbClr val="0891B2"/>
                </a:solidFill>
              </a:rPr>
              <a:t>Public subnet · 1a</a:t>
            </a:r>
            <a:endParaRPr lang="en-US" sz="1100" dirty="0"/>
          </a:p>
          <a:p>
            <a:pPr indent="0" marL="0">
              <a:buNone/>
            </a:pPr>
            <a:r>
              <a:rPr lang="en-US" sz="1000" dirty="0">
                <a:solidFill>
                  <a:srgbClr val="334155"/>
                </a:solidFill>
              </a:rPr>
              <a:t>10.20.101.0/24</a:t>
            </a:r>
            <a:endParaRPr lang="en-US" sz="1100" dirty="0"/>
          </a:p>
          <a:p>
            <a:pPr indent="0" marL="0">
              <a:buNone/>
            </a:pPr>
            <a:r>
              <a:rPr lang="en-US" sz="1000" dirty="0">
                <a:solidFill>
                  <a:srgbClr val="334155"/>
                </a:solidFill>
              </a:rPr>
              <a:t>NAT Gateway, ELB tags</a:t>
            </a:r>
            <a:endParaRPr lang="en-US" sz="1100" dirty="0"/>
          </a:p>
        </p:txBody>
      </p:sp>
      <p:sp>
        <p:nvSpPr>
          <p:cNvPr id="7" name="subnet-Public subnet · 1b"/>
          <p:cNvSpPr/>
          <p:nvPr/>
        </p:nvSpPr>
        <p:spPr>
          <a:xfrm>
            <a:off x="2926080" y="1600200"/>
            <a:ext cx="2194560" cy="1097280"/>
          </a:xfrm>
          <a:prstGeom prst="roundRect">
            <a:avLst>
              <a:gd name="adj" fmla="val 6667"/>
            </a:avLst>
          </a:prstGeom>
          <a:solidFill>
            <a:srgbClr val="FFFFFF"/>
          </a:solidFill>
          <a:ln w="19050">
            <a:solidFill>
              <a:srgbClr val="0891B2"/>
            </a:solidFill>
            <a:prstDash val="solid"/>
          </a:ln>
        </p:spPr>
      </p:sp>
      <p:sp>
        <p:nvSpPr>
          <p:cNvPr id="8" name="subnet-text-Public subnet · 1b"/>
          <p:cNvSpPr txBox="1"/>
          <p:nvPr/>
        </p:nvSpPr>
        <p:spPr>
          <a:xfrm>
            <a:off x="3035808" y="1673352"/>
            <a:ext cx="2011680" cy="960120"/>
          </a:xfrm>
          <a:prstGeom prst="rect">
            <a:avLst/>
          </a:prstGeom>
          <a:noFill/>
          <a:ln/>
        </p:spPr>
        <p:txBody>
          <a:bodyPr wrap="square" lIns="0" tIns="0" rIns="0" bIns="0" rtlCol="0" anchor="t"/>
          <a:lstStyle/>
          <a:p>
            <a:pPr indent="0" marL="0">
              <a:buNone/>
            </a:pPr>
            <a:r>
              <a:rPr lang="en-US" sz="1100" b="1" dirty="0">
                <a:solidFill>
                  <a:srgbClr val="0891B2"/>
                </a:solidFill>
              </a:rPr>
              <a:t>Public subnet · 1b</a:t>
            </a:r>
            <a:endParaRPr lang="en-US" sz="1100" dirty="0"/>
          </a:p>
          <a:p>
            <a:pPr indent="0" marL="0">
              <a:buNone/>
            </a:pPr>
            <a:r>
              <a:rPr lang="en-US" sz="1000" dirty="0">
                <a:solidFill>
                  <a:srgbClr val="334155"/>
                </a:solidFill>
              </a:rPr>
              <a:t>10.20.102.0/24</a:t>
            </a:r>
            <a:endParaRPr lang="en-US" sz="1100" dirty="0"/>
          </a:p>
          <a:p>
            <a:pPr indent="0" marL="0">
              <a:buNone/>
            </a:pPr>
            <a:r>
              <a:rPr lang="en-US" sz="1000" dirty="0">
                <a:solidFill>
                  <a:srgbClr val="334155"/>
                </a:solidFill>
              </a:rPr>
              <a:t>Load balancers</a:t>
            </a:r>
            <a:endParaRPr lang="en-US" sz="1100" dirty="0"/>
          </a:p>
        </p:txBody>
      </p:sp>
      <p:sp>
        <p:nvSpPr>
          <p:cNvPr id="9" name="subnet-Private subnet · 1a"/>
          <p:cNvSpPr/>
          <p:nvPr/>
        </p:nvSpPr>
        <p:spPr>
          <a:xfrm>
            <a:off x="594360" y="2834640"/>
            <a:ext cx="2194560" cy="1097280"/>
          </a:xfrm>
          <a:prstGeom prst="roundRect">
            <a:avLst>
              <a:gd name="adj" fmla="val 6667"/>
            </a:avLst>
          </a:prstGeom>
          <a:solidFill>
            <a:srgbClr val="FFFFFF"/>
          </a:solidFill>
          <a:ln w="19050">
            <a:solidFill>
              <a:srgbClr val="7C3AED"/>
            </a:solidFill>
            <a:prstDash val="solid"/>
          </a:ln>
        </p:spPr>
      </p:sp>
      <p:sp>
        <p:nvSpPr>
          <p:cNvPr id="10" name="subnet-text-Private subnet · 1a"/>
          <p:cNvSpPr txBox="1"/>
          <p:nvPr/>
        </p:nvSpPr>
        <p:spPr>
          <a:xfrm>
            <a:off x="704088" y="2907792"/>
            <a:ext cx="2011680" cy="960120"/>
          </a:xfrm>
          <a:prstGeom prst="rect">
            <a:avLst/>
          </a:prstGeom>
          <a:noFill/>
          <a:ln/>
        </p:spPr>
        <p:txBody>
          <a:bodyPr wrap="square" lIns="0" tIns="0" rIns="0" bIns="0" rtlCol="0" anchor="t"/>
          <a:lstStyle/>
          <a:p>
            <a:pPr indent="0" marL="0">
              <a:buNone/>
            </a:pPr>
            <a:r>
              <a:rPr lang="en-US" sz="1100" b="1" dirty="0">
                <a:solidFill>
                  <a:srgbClr val="7C3AED"/>
                </a:solidFill>
              </a:rPr>
              <a:t>Private subnet · 1a</a:t>
            </a:r>
            <a:endParaRPr lang="en-US" sz="1100" dirty="0"/>
          </a:p>
          <a:p>
            <a:pPr indent="0" marL="0">
              <a:buNone/>
            </a:pPr>
            <a:r>
              <a:rPr lang="en-US" sz="1000" dirty="0">
                <a:solidFill>
                  <a:srgbClr val="334155"/>
                </a:solidFill>
              </a:rPr>
              <a:t>10.20.1.0/24</a:t>
            </a:r>
            <a:endParaRPr lang="en-US" sz="1100" dirty="0"/>
          </a:p>
          <a:p>
            <a:pPr indent="0" marL="0">
              <a:buNone/>
            </a:pPr>
            <a:r>
              <a:rPr lang="en-US" sz="1000" dirty="0">
                <a:solidFill>
                  <a:srgbClr val="334155"/>
                </a:solidFill>
              </a:rPr>
              <a:t>EKS worker node (t3.medium)</a:t>
            </a:r>
            <a:endParaRPr lang="en-US" sz="1100" dirty="0"/>
          </a:p>
        </p:txBody>
      </p:sp>
      <p:sp>
        <p:nvSpPr>
          <p:cNvPr id="11" name="subnet-Private subnet · 1b"/>
          <p:cNvSpPr/>
          <p:nvPr/>
        </p:nvSpPr>
        <p:spPr>
          <a:xfrm>
            <a:off x="2926080" y="2834640"/>
            <a:ext cx="2194560" cy="1097280"/>
          </a:xfrm>
          <a:prstGeom prst="roundRect">
            <a:avLst>
              <a:gd name="adj" fmla="val 6667"/>
            </a:avLst>
          </a:prstGeom>
          <a:solidFill>
            <a:srgbClr val="FFFFFF"/>
          </a:solidFill>
          <a:ln w="19050">
            <a:solidFill>
              <a:srgbClr val="7C3AED"/>
            </a:solidFill>
            <a:prstDash val="solid"/>
          </a:ln>
        </p:spPr>
      </p:sp>
      <p:sp>
        <p:nvSpPr>
          <p:cNvPr id="12" name="subnet-text-Private subnet · 1b"/>
          <p:cNvSpPr txBox="1"/>
          <p:nvPr/>
        </p:nvSpPr>
        <p:spPr>
          <a:xfrm>
            <a:off x="3035808" y="2907792"/>
            <a:ext cx="2011680" cy="960120"/>
          </a:xfrm>
          <a:prstGeom prst="rect">
            <a:avLst/>
          </a:prstGeom>
          <a:noFill/>
          <a:ln/>
        </p:spPr>
        <p:txBody>
          <a:bodyPr wrap="square" lIns="0" tIns="0" rIns="0" bIns="0" rtlCol="0" anchor="t"/>
          <a:lstStyle/>
          <a:p>
            <a:pPr indent="0" marL="0">
              <a:buNone/>
            </a:pPr>
            <a:r>
              <a:rPr lang="en-US" sz="1100" b="1" dirty="0">
                <a:solidFill>
                  <a:srgbClr val="7C3AED"/>
                </a:solidFill>
              </a:rPr>
              <a:t>Private subnet · 1b</a:t>
            </a:r>
            <a:endParaRPr lang="en-US" sz="1100" dirty="0"/>
          </a:p>
          <a:p>
            <a:pPr indent="0" marL="0">
              <a:buNone/>
            </a:pPr>
            <a:r>
              <a:rPr lang="en-US" sz="1000" dirty="0">
                <a:solidFill>
                  <a:srgbClr val="334155"/>
                </a:solidFill>
              </a:rPr>
              <a:t>10.20.2.0/24</a:t>
            </a:r>
            <a:endParaRPr lang="en-US" sz="1100" dirty="0"/>
          </a:p>
          <a:p>
            <a:pPr indent="0" marL="0">
              <a:buNone/>
            </a:pPr>
            <a:r>
              <a:rPr lang="en-US" sz="1000" dirty="0">
                <a:solidFill>
                  <a:srgbClr val="334155"/>
                </a:solidFill>
              </a:rPr>
              <a:t>EKS worker node (t3.medium)</a:t>
            </a:r>
            <a:endParaRPr lang="en-US" sz="1100" dirty="0"/>
          </a:p>
        </p:txBody>
      </p:sp>
      <p:sp>
        <p:nvSpPr>
          <p:cNvPr id="13" name="eks-label"/>
          <p:cNvSpPr txBox="1"/>
          <p:nvPr/>
        </p:nvSpPr>
        <p:spPr>
          <a:xfrm>
            <a:off x="594360" y="4041648"/>
            <a:ext cx="4480560" cy="411480"/>
          </a:xfrm>
          <a:prstGeom prst="rect">
            <a:avLst/>
          </a:prstGeom>
          <a:noFill/>
          <a:ln/>
        </p:spPr>
        <p:txBody>
          <a:bodyPr wrap="square" lIns="0" tIns="0" rIns="0" bIns="0" rtlCol="0" anchor="ctr"/>
          <a:lstStyle/>
          <a:p>
            <a:pPr indent="0" marL="0">
              <a:buNone/>
            </a:pPr>
            <a:r>
              <a:rPr lang="en-US" sz="1000" dirty="0">
                <a:solidFill>
                  <a:srgbClr val="475569"/>
                </a:solidFill>
              </a:rPr>
              <a:t>EKS 1.31 control plane  ·  managed node group 2–4 nodes  ·  add-ons: CoreDNS, kube-proxy, VPC CNI, Pod Identity, EBS CSI (IRSA)</a:t>
            </a:r>
            <a:endParaRPr lang="en-US" sz="1000" dirty="0"/>
          </a:p>
        </p:txBody>
      </p:sp>
      <p:sp>
        <p:nvSpPr>
          <p:cNvPr id="14" name="tf-bullets"/>
          <p:cNvSpPr txBox="1"/>
          <p:nvPr/>
        </p:nvSpPr>
        <p:spPr>
          <a:xfrm>
            <a:off x="5394960" y="1143000"/>
            <a:ext cx="329184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rPr>
              <a:t>terraform-aws-modules vpc 5.21 + eks 20.37; variables with validation, locals for tags, outputs incl. the kubeconfig command</a:t>
            </a:r>
            <a:endParaRPr lang="en-US" sz="1100" dirty="0"/>
          </a:p>
          <a:p>
            <a:pPr marL="342900" indent="-342900">
              <a:spcAft>
                <a:spcPts val="600"/>
              </a:spcAft>
              <a:buSzPct val="100000"/>
              <a:buChar char="•"/>
            </a:pPr>
            <a:r>
              <a:rPr lang="en-US" sz="1100" dirty="0">
                <a:solidFill>
                  <a:srgbClr val="334155"/>
                </a:solidFill>
              </a:rPr>
              <a:t>terraform.tfvars.example committed, real tfvars and state git-ignored; optional S3 backend block</a:t>
            </a:r>
            <a:endParaRPr lang="en-US" sz="1100" dirty="0"/>
          </a:p>
          <a:p>
            <a:pPr marL="342900" indent="-342900">
              <a:spcAft>
                <a:spcPts val="600"/>
              </a:spcAft>
              <a:buSzPct val="100000"/>
              <a:buChar char="•"/>
            </a:pPr>
            <a:r>
              <a:rPr lang="en-US" sz="1100" dirty="0">
                <a:solidFill>
                  <a:srgbClr val="334155"/>
                </a:solidFill>
              </a:rPr>
              <a:t>Offline test-suite (tests/plan.tftest.hcl) with a mocked AWS provider: 3 runs pass, plan of 67 resources, no credentials or cost</a:t>
            </a:r>
            <a:endParaRPr lang="en-US" sz="1100" dirty="0"/>
          </a:p>
          <a:p>
            <a:pPr marL="342900" indent="-342900">
              <a:spcAft>
                <a:spcPts val="600"/>
              </a:spcAft>
              <a:buSzPct val="100000"/>
              <a:buChar char="•"/>
            </a:pPr>
            <a:r>
              <a:rPr lang="en-US" sz="1100" dirty="0">
                <a:solidFill>
                  <a:srgbClr val="334155"/>
                </a:solidFill>
              </a:rPr>
              <a:t>terraform destroy documented as a mandatory last step</a:t>
            </a:r>
            <a:endParaRPr lang="en-US" sz="1100" dirty="0"/>
          </a:p>
        </p:txBody>
      </p:sp>
      <p:sp>
        <p:nvSpPr>
          <p:cNvPr id="15" name="stat-resources in plan"/>
          <p:cNvSpPr txBox="1"/>
          <p:nvPr/>
        </p:nvSpPr>
        <p:spPr>
          <a:xfrm>
            <a:off x="5394960" y="3657600"/>
            <a:ext cx="1554480" cy="685800"/>
          </a:xfrm>
          <a:prstGeom prst="rect">
            <a:avLst/>
          </a:prstGeom>
          <a:noFill/>
          <a:ln/>
        </p:spPr>
        <p:txBody>
          <a:bodyPr wrap="square" lIns="0" tIns="0" rIns="0" bIns="0" rtlCol="0" anchor="ctr"/>
          <a:lstStyle/>
          <a:p>
            <a:pPr algn="l" indent="0" marL="0">
              <a:buNone/>
            </a:pPr>
            <a:r>
              <a:rPr lang="en-US" sz="3600" b="1" dirty="0">
                <a:solidFill>
                  <a:schemeClr val="accent6"/>
                </a:solidFill>
              </a:rPr>
              <a:t>67</a:t>
            </a:r>
            <a:endParaRPr lang="en-US" sz="3600" dirty="0"/>
          </a:p>
        </p:txBody>
      </p:sp>
      <p:sp>
        <p:nvSpPr>
          <p:cNvPr id="16" name="stat-label-resources in plan"/>
          <p:cNvSpPr txBox="1"/>
          <p:nvPr/>
        </p:nvSpPr>
        <p:spPr>
          <a:xfrm>
            <a:off x="5394960" y="4315968"/>
            <a:ext cx="1554480" cy="320040"/>
          </a:xfrm>
          <a:prstGeom prst="rect">
            <a:avLst/>
          </a:prstGeom>
          <a:noFill/>
          <a:ln/>
        </p:spPr>
        <p:txBody>
          <a:bodyPr wrap="square" lIns="0" tIns="0" rIns="0" bIns="0" rtlCol="0" anchor="ctr"/>
          <a:lstStyle/>
          <a:p>
            <a:pPr indent="0" marL="0">
              <a:buNone/>
            </a:pPr>
            <a:r>
              <a:rPr lang="en-US" sz="1100" dirty="0">
                <a:solidFill>
                  <a:srgbClr val="64748B"/>
                </a:solidFill>
              </a:rPr>
              <a:t>resources in plan</a:t>
            </a:r>
            <a:endParaRPr lang="en-US" sz="1100" dirty="0"/>
          </a:p>
        </p:txBody>
      </p:sp>
      <p:sp>
        <p:nvSpPr>
          <p:cNvPr id="17" name="stat-terraform tests pass"/>
          <p:cNvSpPr txBox="1"/>
          <p:nvPr/>
        </p:nvSpPr>
        <p:spPr>
          <a:xfrm>
            <a:off x="7040880" y="3657600"/>
            <a:ext cx="1645920" cy="685800"/>
          </a:xfrm>
          <a:prstGeom prst="rect">
            <a:avLst/>
          </a:prstGeom>
          <a:noFill/>
          <a:ln/>
        </p:spPr>
        <p:txBody>
          <a:bodyPr wrap="square" lIns="0" tIns="0" rIns="0" bIns="0" rtlCol="0" anchor="ctr"/>
          <a:lstStyle/>
          <a:p>
            <a:pPr algn="l" indent="0" marL="0">
              <a:buNone/>
            </a:pPr>
            <a:r>
              <a:rPr lang="en-US" sz="3600" b="1" dirty="0">
                <a:solidFill>
                  <a:schemeClr val="accent2"/>
                </a:solidFill>
              </a:rPr>
              <a:t>3 / 3</a:t>
            </a:r>
            <a:endParaRPr lang="en-US" sz="3600" dirty="0"/>
          </a:p>
        </p:txBody>
      </p:sp>
      <p:sp>
        <p:nvSpPr>
          <p:cNvPr id="18" name="stat-label-terraform tests pass"/>
          <p:cNvSpPr txBox="1"/>
          <p:nvPr/>
        </p:nvSpPr>
        <p:spPr>
          <a:xfrm>
            <a:off x="7040880" y="4315968"/>
            <a:ext cx="1645920" cy="320040"/>
          </a:xfrm>
          <a:prstGeom prst="rect">
            <a:avLst/>
          </a:prstGeom>
          <a:noFill/>
          <a:ln/>
        </p:spPr>
        <p:txBody>
          <a:bodyPr wrap="square" lIns="0" tIns="0" rIns="0" bIns="0" rtlCol="0" anchor="ctr"/>
          <a:lstStyle/>
          <a:p>
            <a:pPr indent="0" marL="0">
              <a:buNone/>
            </a:pPr>
            <a:r>
              <a:rPr lang="en-US" sz="1100" dirty="0">
                <a:solidFill>
                  <a:srgbClr val="64748B"/>
                </a:solidFill>
              </a:rPr>
              <a:t>terraform tests pass</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Kubernetes + Helm: one chart, 3 environments</a:t>
            </a:r>
            <a:endParaRPr lang="en-US" sz="2600" dirty="0"/>
          </a:p>
        </p:txBody>
      </p:sp>
      <p:pic>
        <p:nvPicPr>
          <p:cNvPr id="3" name="pods-shot" descr="/Users/vibhutibhatnagar/Desktop/SST STUDY/DEVOPS CAPSTONE PROJECT/docs/screenshots/21-kubectl-get-pods.png">    </p:cNvPr>
          <p:cNvPicPr>
            <a:picLocks noChangeAspect="1"/>
          </p:cNvPicPr>
          <p:nvPr/>
        </p:nvPicPr>
        <p:blipFill>
          <a:blip r:embed="rId1"/>
          <a:stretch>
            <a:fillRect/>
          </a:stretch>
        </p:blipFill>
        <p:spPr>
          <a:xfrm>
            <a:off x="457200" y="1143000"/>
            <a:ext cx="4846320" cy="2331720"/>
          </a:xfrm>
          <a:prstGeom prst="rect">
            <a:avLst/>
          </a:prstGeom>
          <a:effectLst>
            <a:outerShdw sx="100000" sy="100000" kx="0" ky="0" algn="bl" rotWithShape="0" blurRad="101600" dist="38100" dir="5400000">
              <a:srgbClr val="000000">
                <a:alpha val="25000"/>
              </a:srgbClr>
            </a:outerShdw>
          </a:effectLst>
        </p:spPr>
      </p:pic>
      <p:sp>
        <p:nvSpPr>
          <p:cNvPr id="4" name="pods-caption"/>
          <p:cNvSpPr txBox="1"/>
          <p:nvPr/>
        </p:nvSpPr>
        <p:spPr>
          <a:xfrm>
            <a:off x="457200" y="3520440"/>
            <a:ext cx="4846320" cy="274320"/>
          </a:xfrm>
          <a:prstGeom prst="rect">
            <a:avLst/>
          </a:prstGeom>
          <a:noFill/>
          <a:ln/>
        </p:spPr>
        <p:txBody>
          <a:bodyPr wrap="square" lIns="0" tIns="0" rIns="0" bIns="0" rtlCol="0" anchor="ctr"/>
          <a:lstStyle/>
          <a:p>
            <a:pPr indent="0" marL="0">
              <a:buNone/>
            </a:pPr>
            <a:r>
              <a:rPr lang="en-US" sz="1000" i="1" dirty="0">
                <a:solidFill>
                  <a:srgbClr val="475569"/>
                </a:solidFill>
              </a:rPr>
              <a:t>kind lab: backend ×2, frontend ×2, PostgreSQL StatefulSet, all Running · helm test passes</a:t>
            </a:r>
            <a:endParaRPr lang="en-US" sz="1000" dirty="0"/>
          </a:p>
        </p:txBody>
      </p:sp>
      <p:sp>
        <p:nvSpPr>
          <p:cNvPr id="5" name="dot-0"/>
          <p:cNvSpPr/>
          <p:nvPr/>
        </p:nvSpPr>
        <p:spPr>
          <a:xfrm>
            <a:off x="5532120" y="1216152"/>
            <a:ext cx="201168" cy="201168"/>
          </a:xfrm>
          <a:prstGeom prst="ellipse">
            <a:avLst/>
          </a:prstGeom>
          <a:solidFill>
            <a:srgbClr val="2563EB"/>
          </a:solidFill>
          <a:ln w="12700">
            <a:solidFill>
              <a:srgbClr val="2563EB"/>
            </a:solidFill>
            <a:prstDash val="solid"/>
          </a:ln>
        </p:spPr>
      </p:sp>
      <p:sp>
        <p:nvSpPr>
          <p:cNvPr id="6" name="obj-0"/>
          <p:cNvSpPr txBox="1"/>
          <p:nvPr/>
        </p:nvSpPr>
        <p:spPr>
          <a:xfrm>
            <a:off x="5852160" y="1143000"/>
            <a:ext cx="2834640" cy="640080"/>
          </a:xfrm>
          <a:prstGeom prst="rect">
            <a:avLst/>
          </a:prstGeom>
          <a:noFill/>
          <a:ln/>
        </p:spPr>
        <p:txBody>
          <a:bodyPr wrap="square" lIns="0" tIns="0" rIns="0" bIns="0" rtlCol="0" anchor="t"/>
          <a:lstStyle/>
          <a:p>
            <a:pPr indent="0" marL="0">
              <a:buNone/>
            </a:pPr>
            <a:r>
              <a:rPr lang="en-US" sz="1200" b="1" dirty="0">
                <a:solidFill>
                  <a:schemeClr val="tx1"/>
                </a:solidFill>
              </a:rPr>
              <a:t>Deployments</a:t>
            </a:r>
            <a:endParaRPr lang="en-US" sz="1200" dirty="0"/>
          </a:p>
          <a:p>
            <a:pPr indent="0" marL="0">
              <a:buNone/>
            </a:pPr>
            <a:r>
              <a:rPr lang="en-US" sz="1000" dirty="0">
                <a:solidFill>
                  <a:srgbClr val="475569"/>
                </a:solidFill>
              </a:rPr>
              <a:t>backend + frontend, 2 replicas each, readiness / liveness / startup probes, non-root security context</a:t>
            </a:r>
            <a:endParaRPr lang="en-US" sz="1200" dirty="0"/>
          </a:p>
        </p:txBody>
      </p:sp>
      <p:sp>
        <p:nvSpPr>
          <p:cNvPr id="7" name="dot-1"/>
          <p:cNvSpPr/>
          <p:nvPr/>
        </p:nvSpPr>
        <p:spPr>
          <a:xfrm>
            <a:off x="5532120" y="1901952"/>
            <a:ext cx="201168" cy="201168"/>
          </a:xfrm>
          <a:prstGeom prst="ellipse">
            <a:avLst/>
          </a:prstGeom>
          <a:solidFill>
            <a:srgbClr val="2563EB"/>
          </a:solidFill>
          <a:ln w="12700">
            <a:solidFill>
              <a:srgbClr val="2563EB"/>
            </a:solidFill>
            <a:prstDash val="solid"/>
          </a:ln>
        </p:spPr>
      </p:sp>
      <p:sp>
        <p:nvSpPr>
          <p:cNvPr id="8" name="obj-1"/>
          <p:cNvSpPr txBox="1"/>
          <p:nvPr/>
        </p:nvSpPr>
        <p:spPr>
          <a:xfrm>
            <a:off x="5852160" y="1828800"/>
            <a:ext cx="2834640" cy="640080"/>
          </a:xfrm>
          <a:prstGeom prst="rect">
            <a:avLst/>
          </a:prstGeom>
          <a:noFill/>
          <a:ln/>
        </p:spPr>
        <p:txBody>
          <a:bodyPr wrap="square" lIns="0" tIns="0" rIns="0" bIns="0" rtlCol="0" anchor="t"/>
          <a:lstStyle/>
          <a:p>
            <a:pPr indent="0" marL="0">
              <a:buNone/>
            </a:pPr>
            <a:r>
              <a:rPr lang="en-US" sz="1200" b="1" dirty="0">
                <a:solidFill>
                  <a:schemeClr val="tx1"/>
                </a:solidFill>
              </a:rPr>
              <a:t>Services</a:t>
            </a:r>
            <a:endParaRPr lang="en-US" sz="1200" dirty="0"/>
          </a:p>
          <a:p>
            <a:pPr indent="0" marL="0">
              <a:buNone/>
            </a:pPr>
            <a:r>
              <a:rPr lang="en-US" sz="1000" dirty="0">
                <a:solidFill>
                  <a:srgbClr val="475569"/>
                </a:solidFill>
              </a:rPr>
              <a:t>ClusterIP for backend (8000) and frontend (80 → 8080); headless Service for PostgreSQL</a:t>
            </a:r>
            <a:endParaRPr lang="en-US" sz="1200" dirty="0"/>
          </a:p>
        </p:txBody>
      </p:sp>
      <p:sp>
        <p:nvSpPr>
          <p:cNvPr id="9" name="dot-2"/>
          <p:cNvSpPr/>
          <p:nvPr/>
        </p:nvSpPr>
        <p:spPr>
          <a:xfrm>
            <a:off x="5532120" y="2587752"/>
            <a:ext cx="201168" cy="201168"/>
          </a:xfrm>
          <a:prstGeom prst="ellipse">
            <a:avLst/>
          </a:prstGeom>
          <a:solidFill>
            <a:srgbClr val="2563EB"/>
          </a:solidFill>
          <a:ln w="12700">
            <a:solidFill>
              <a:srgbClr val="2563EB"/>
            </a:solidFill>
            <a:prstDash val="solid"/>
          </a:ln>
        </p:spPr>
      </p:sp>
      <p:sp>
        <p:nvSpPr>
          <p:cNvPr id="10" name="obj-2"/>
          <p:cNvSpPr txBox="1"/>
          <p:nvPr/>
        </p:nvSpPr>
        <p:spPr>
          <a:xfrm>
            <a:off x="5852160" y="2514600"/>
            <a:ext cx="2834640" cy="640080"/>
          </a:xfrm>
          <a:prstGeom prst="rect">
            <a:avLst/>
          </a:prstGeom>
          <a:noFill/>
          <a:ln/>
        </p:spPr>
        <p:txBody>
          <a:bodyPr wrap="square" lIns="0" tIns="0" rIns="0" bIns="0" rtlCol="0" anchor="t"/>
          <a:lstStyle/>
          <a:p>
            <a:pPr indent="0" marL="0">
              <a:buNone/>
            </a:pPr>
            <a:r>
              <a:rPr lang="en-US" sz="1200" b="1" dirty="0">
                <a:solidFill>
                  <a:schemeClr val="tx1"/>
                </a:solidFill>
              </a:rPr>
              <a:t>StatefulSet + PVC</a:t>
            </a:r>
            <a:endParaRPr lang="en-US" sz="1200" dirty="0"/>
          </a:p>
          <a:p>
            <a:pPr indent="0" marL="0">
              <a:buNone/>
            </a:pPr>
            <a:r>
              <a:rPr lang="en-US" sz="1000" dirty="0">
                <a:solidFill>
                  <a:srgbClr val="475569"/>
                </a:solidFill>
              </a:rPr>
              <a:t>PostgreSQL 17 with a volumeClaimTemplate; postgres.enabled=false swaps in Amazon RDS</a:t>
            </a:r>
            <a:endParaRPr lang="en-US" sz="1200" dirty="0"/>
          </a:p>
        </p:txBody>
      </p:sp>
      <p:sp>
        <p:nvSpPr>
          <p:cNvPr id="11" name="dot-3"/>
          <p:cNvSpPr/>
          <p:nvPr/>
        </p:nvSpPr>
        <p:spPr>
          <a:xfrm>
            <a:off x="5532120" y="3273552"/>
            <a:ext cx="201168" cy="201168"/>
          </a:xfrm>
          <a:prstGeom prst="ellipse">
            <a:avLst/>
          </a:prstGeom>
          <a:solidFill>
            <a:srgbClr val="2563EB"/>
          </a:solidFill>
          <a:ln w="12700">
            <a:solidFill>
              <a:srgbClr val="2563EB"/>
            </a:solidFill>
            <a:prstDash val="solid"/>
          </a:ln>
        </p:spPr>
      </p:sp>
      <p:sp>
        <p:nvSpPr>
          <p:cNvPr id="12" name="obj-3"/>
          <p:cNvSpPr txBox="1"/>
          <p:nvPr/>
        </p:nvSpPr>
        <p:spPr>
          <a:xfrm>
            <a:off x="5852160" y="3200400"/>
            <a:ext cx="2834640" cy="640080"/>
          </a:xfrm>
          <a:prstGeom prst="rect">
            <a:avLst/>
          </a:prstGeom>
          <a:noFill/>
          <a:ln/>
        </p:spPr>
        <p:txBody>
          <a:bodyPr wrap="square" lIns="0" tIns="0" rIns="0" bIns="0" rtlCol="0" anchor="t"/>
          <a:lstStyle/>
          <a:p>
            <a:pPr indent="0" marL="0">
              <a:buNone/>
            </a:pPr>
            <a:r>
              <a:rPr lang="en-US" sz="1200" b="1" dirty="0">
                <a:solidFill>
                  <a:schemeClr val="tx1"/>
                </a:solidFill>
              </a:rPr>
              <a:t>Ingress · HPA · ServiceMonitor</a:t>
            </a:r>
            <a:endParaRPr lang="en-US" sz="1200" dirty="0"/>
          </a:p>
          <a:p>
            <a:pPr indent="0" marL="0">
              <a:buNone/>
            </a:pPr>
            <a:r>
              <a:rPr lang="en-US" sz="1000" dirty="0">
                <a:solidFill>
                  <a:srgbClr val="475569"/>
                </a:solidFill>
              </a:rPr>
              <a:t>/api → backend, / → frontend; CPU-based autoscaling; Prometheus scraping</a:t>
            </a:r>
            <a:endParaRPr lang="en-US" sz="1200" dirty="0"/>
          </a:p>
        </p:txBody>
      </p:sp>
      <p:sp>
        <p:nvSpPr>
          <p:cNvPr id="13" name="dot-4"/>
          <p:cNvSpPr/>
          <p:nvPr/>
        </p:nvSpPr>
        <p:spPr>
          <a:xfrm>
            <a:off x="5532120" y="3959352"/>
            <a:ext cx="201168" cy="201168"/>
          </a:xfrm>
          <a:prstGeom prst="ellipse">
            <a:avLst/>
          </a:prstGeom>
          <a:solidFill>
            <a:srgbClr val="2563EB"/>
          </a:solidFill>
          <a:ln w="12700">
            <a:solidFill>
              <a:srgbClr val="2563EB"/>
            </a:solidFill>
            <a:prstDash val="solid"/>
          </a:ln>
        </p:spPr>
      </p:sp>
      <p:sp>
        <p:nvSpPr>
          <p:cNvPr id="14" name="obj-4"/>
          <p:cNvSpPr txBox="1"/>
          <p:nvPr/>
        </p:nvSpPr>
        <p:spPr>
          <a:xfrm>
            <a:off x="5852160" y="3886200"/>
            <a:ext cx="2834640" cy="640080"/>
          </a:xfrm>
          <a:prstGeom prst="rect">
            <a:avLst/>
          </a:prstGeom>
          <a:noFill/>
          <a:ln/>
        </p:spPr>
        <p:txBody>
          <a:bodyPr wrap="square" lIns="0" tIns="0" rIns="0" bIns="0" rtlCol="0" anchor="t"/>
          <a:lstStyle/>
          <a:p>
            <a:pPr indent="0" marL="0">
              <a:buNone/>
            </a:pPr>
            <a:r>
              <a:rPr lang="en-US" sz="1200" b="1" dirty="0">
                <a:solidFill>
                  <a:schemeClr val="tx1"/>
                </a:solidFill>
              </a:rPr>
              <a:t>Values files</a:t>
            </a:r>
            <a:endParaRPr lang="en-US" sz="1200" dirty="0"/>
          </a:p>
          <a:p>
            <a:pPr indent="0" marL="0">
              <a:buNone/>
            </a:pPr>
            <a:r>
              <a:rPr lang="en-US" sz="1000" dirty="0">
                <a:solidFill>
                  <a:srgbClr val="475569"/>
                </a:solidFill>
              </a:rPr>
              <a:t>values-dev (stockpilot.local), values-kind (nip.io), values-prod (EKS, gp2, production host)</a:t>
            </a:r>
            <a:endParaRPr lang="en-US" sz="1200" dirty="0"/>
          </a:p>
        </p:txBody>
      </p:sp>
      <p:sp>
        <p:nvSpPr>
          <p:cNvPr id="15" name="helm-cmd"/>
          <p:cNvSpPr txBox="1"/>
          <p:nvPr/>
        </p:nvSpPr>
        <p:spPr>
          <a:xfrm>
            <a:off x="457200" y="4069080"/>
            <a:ext cx="4846320" cy="457200"/>
          </a:xfrm>
          <a:prstGeom prst="rect">
            <a:avLst/>
          </a:prstGeom>
          <a:noFill/>
          <a:ln/>
        </p:spPr>
        <p:txBody>
          <a:bodyPr wrap="square" lIns="0" tIns="0" rIns="0" bIns="0" rtlCol="0" anchor="ctr"/>
          <a:lstStyle/>
          <a:p>
            <a:pPr indent="0" marL="0">
              <a:buNone/>
            </a:pPr>
            <a:r>
              <a:rPr lang="en-US" sz="1000" dirty="0">
                <a:solidFill>
                  <a:srgbClr val="334155"/>
                </a:solidFill>
                <a:latin typeface="Courier New" pitchFamily="34" charset="0"/>
                <a:ea typeface="Courier New" pitchFamily="34" charset="-122"/>
                <a:cs typeface="Courier New" pitchFamily="34" charset="-120"/>
              </a:rPr>
              <a:t>kubectl apply -f k8s/namespace.yaml  ·  helm upgrade --install stockpilot ./helm/stockpilot -n stockpilot -f values-dev.yaml</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Ingress routing and autoscaling under load</a:t>
            </a:r>
            <a:endParaRPr lang="en-US" sz="2600" dirty="0"/>
          </a:p>
        </p:txBody>
      </p:sp>
      <p:sp>
        <p:nvSpPr>
          <p:cNvPr id="3" name="card-Ingress (ingress-nginx)"/>
          <p:cNvSpPr/>
          <p:nvPr/>
        </p:nvSpPr>
        <p:spPr>
          <a:xfrm>
            <a:off x="457200" y="1143000"/>
            <a:ext cx="3657600" cy="1508760"/>
          </a:xfrm>
          <a:prstGeom prst="roundRect">
            <a:avLst>
              <a:gd name="adj" fmla="val 7273"/>
            </a:avLst>
          </a:prstGeom>
          <a:solidFill>
            <a:srgbClr val="EEF2F8"/>
          </a:solidFill>
          <a:ln w="12700">
            <a:solidFill>
              <a:srgbClr val="EEF2F8"/>
            </a:solidFill>
            <a:prstDash val="solid"/>
          </a:ln>
        </p:spPr>
      </p:sp>
      <p:sp>
        <p:nvSpPr>
          <p:cNvPr id="4" name="icon-bg-network"/>
          <p:cNvSpPr/>
          <p:nvPr/>
        </p:nvSpPr>
        <p:spPr>
          <a:xfrm>
            <a:off x="640080" y="1325880"/>
            <a:ext cx="457200" cy="457200"/>
          </a:xfrm>
          <a:prstGeom prst="ellipse">
            <a:avLst/>
          </a:prstGeom>
          <a:solidFill>
            <a:srgbClr val="0891B2"/>
          </a:solidFill>
          <a:ln w="12700">
            <a:solidFill>
              <a:srgbClr val="0891B2"/>
            </a:solidFill>
            <a:prstDash val="solid"/>
          </a:ln>
        </p:spPr>
      </p:sp>
      <p:pic>
        <p:nvPicPr>
          <p:cNvPr id="5" name="icon-network"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card-title-Ingress (ingress-nginx)"/>
          <p:cNvSpPr txBox="1"/>
          <p:nvPr/>
        </p:nvSpPr>
        <p:spPr>
          <a:xfrm>
            <a:off x="1234440" y="1325880"/>
            <a:ext cx="2697480" cy="457200"/>
          </a:xfrm>
          <a:prstGeom prst="rect">
            <a:avLst/>
          </a:prstGeom>
          <a:noFill/>
          <a:ln/>
        </p:spPr>
        <p:txBody>
          <a:bodyPr wrap="square" lIns="0" tIns="0" rIns="0" bIns="0" rtlCol="0" anchor="ctr"/>
          <a:lstStyle/>
          <a:p>
            <a:pPr indent="0" marL="0">
              <a:buNone/>
            </a:pPr>
            <a:r>
              <a:rPr lang="en-US" sz="1400" b="1" dirty="0">
                <a:solidFill>
                  <a:schemeClr val="tx1"/>
                </a:solidFill>
              </a:rPr>
              <a:t>Ingress (ingress-nginx)</a:t>
            </a:r>
            <a:endParaRPr lang="en-US" sz="1400" dirty="0"/>
          </a:p>
        </p:txBody>
      </p:sp>
      <p:sp>
        <p:nvSpPr>
          <p:cNvPr id="7" name="card-body-Ingress (ingress-nginx)"/>
          <p:cNvSpPr txBox="1"/>
          <p:nvPr/>
        </p:nvSpPr>
        <p:spPr>
          <a:xfrm>
            <a:off x="640080" y="1874520"/>
            <a:ext cx="3291840" cy="64008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Host stockpilot.local (or stockpilot.127.0.0.1.nip.io with no hosts entry)</a:t>
            </a:r>
            <a:endParaRPr lang="en-US" sz="1100" dirty="0"/>
          </a:p>
          <a:p>
            <a:pPr indent="0" marL="0">
              <a:spcAft>
                <a:spcPts val="400"/>
              </a:spcAft>
              <a:buNone/>
            </a:pPr>
            <a:r>
              <a:rPr lang="en-US" sz="1100" dirty="0">
                <a:solidFill>
                  <a:srgbClr val="334155"/>
                </a:solidFill>
              </a:rPr>
              <a:t>/api, /docs, /openapi.json → backend Service :8000</a:t>
            </a:r>
            <a:endParaRPr lang="en-US" sz="1100" dirty="0"/>
          </a:p>
          <a:p>
            <a:pPr indent="0" marL="0">
              <a:spcAft>
                <a:spcPts val="400"/>
              </a:spcAft>
              <a:buNone/>
            </a:pPr>
            <a:r>
              <a:rPr lang="en-US" sz="1100" dirty="0">
                <a:solidFill>
                  <a:srgbClr val="334155"/>
                </a:solidFill>
              </a:rPr>
              <a:t>/ → frontend Service :80</a:t>
            </a:r>
            <a:endParaRPr lang="en-US" sz="1100" dirty="0"/>
          </a:p>
        </p:txBody>
      </p:sp>
      <p:sp>
        <p:nvSpPr>
          <p:cNvPr id="8" name="card-HorizontalPodAutoscaler"/>
          <p:cNvSpPr/>
          <p:nvPr/>
        </p:nvSpPr>
        <p:spPr>
          <a:xfrm>
            <a:off x="457200" y="2788920"/>
            <a:ext cx="3657600" cy="1783080"/>
          </a:xfrm>
          <a:prstGeom prst="roundRect">
            <a:avLst>
              <a:gd name="adj" fmla="val 6154"/>
            </a:avLst>
          </a:prstGeom>
          <a:solidFill>
            <a:srgbClr val="EEF2F8"/>
          </a:solidFill>
          <a:ln w="12700">
            <a:solidFill>
              <a:srgbClr val="EEF2F8"/>
            </a:solidFill>
            <a:prstDash val="solid"/>
          </a:ln>
        </p:spPr>
      </p:sp>
      <p:sp>
        <p:nvSpPr>
          <p:cNvPr id="9" name="icon-bg-cogs"/>
          <p:cNvSpPr/>
          <p:nvPr/>
        </p:nvSpPr>
        <p:spPr>
          <a:xfrm>
            <a:off x="640080" y="2971800"/>
            <a:ext cx="457200" cy="457200"/>
          </a:xfrm>
          <a:prstGeom prst="ellipse">
            <a:avLst/>
          </a:prstGeom>
          <a:solidFill>
            <a:srgbClr val="D97706"/>
          </a:solidFill>
          <a:ln w="12700">
            <a:solidFill>
              <a:srgbClr val="D97706"/>
            </a:solidFill>
            <a:prstDash val="solid"/>
          </a:ln>
        </p:spPr>
      </p:sp>
      <p:pic>
        <p:nvPicPr>
          <p:cNvPr id="10" name="icon-cogs" descr="preencoded.png">    </p:cNvPr>
          <p:cNvPicPr>
            <a:picLocks noChangeAspect="1"/>
          </p:cNvPicPr>
          <p:nvPr/>
        </p:nvPicPr>
        <p:blipFill>
          <a:blip r:embed="rId2"/>
          <a:stretch>
            <a:fillRect/>
          </a:stretch>
        </p:blipFill>
        <p:spPr>
          <a:xfrm>
            <a:off x="754380" y="3086100"/>
            <a:ext cx="228600" cy="228600"/>
          </a:xfrm>
          <a:prstGeom prst="rect">
            <a:avLst/>
          </a:prstGeom>
        </p:spPr>
      </p:pic>
      <p:sp>
        <p:nvSpPr>
          <p:cNvPr id="11" name="card-title-HorizontalPodAutoscaler"/>
          <p:cNvSpPr txBox="1"/>
          <p:nvPr/>
        </p:nvSpPr>
        <p:spPr>
          <a:xfrm>
            <a:off x="1234440" y="2971800"/>
            <a:ext cx="2697480" cy="457200"/>
          </a:xfrm>
          <a:prstGeom prst="rect">
            <a:avLst/>
          </a:prstGeom>
          <a:noFill/>
          <a:ln/>
        </p:spPr>
        <p:txBody>
          <a:bodyPr wrap="square" lIns="0" tIns="0" rIns="0" bIns="0" rtlCol="0" anchor="ctr"/>
          <a:lstStyle/>
          <a:p>
            <a:pPr indent="0" marL="0">
              <a:buNone/>
            </a:pPr>
            <a:r>
              <a:rPr lang="en-US" sz="1400" b="1" dirty="0">
                <a:solidFill>
                  <a:schemeClr val="tx1"/>
                </a:solidFill>
              </a:rPr>
              <a:t>HorizontalPodAutoscaler</a:t>
            </a:r>
            <a:endParaRPr lang="en-US" sz="1400" dirty="0"/>
          </a:p>
        </p:txBody>
      </p:sp>
      <p:sp>
        <p:nvSpPr>
          <p:cNvPr id="12" name="card-body-HorizontalPodAutoscaler"/>
          <p:cNvSpPr txBox="1"/>
          <p:nvPr/>
        </p:nvSpPr>
        <p:spPr>
          <a:xfrm>
            <a:off x="640080" y="3520440"/>
            <a:ext cx="3291840" cy="91440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Targets 50–60 % CPU of the 100m request, 2–6 replicas, 60 s scale-down window.</a:t>
            </a:r>
            <a:endParaRPr lang="en-US" sz="1100" dirty="0"/>
          </a:p>
          <a:p>
            <a:pPr indent="0" marL="0">
              <a:spcAft>
                <a:spcPts val="400"/>
              </a:spcAft>
              <a:buNone/>
            </a:pPr>
            <a:r>
              <a:rPr lang="en-US" sz="1100" dirty="0">
                <a:solidFill>
                  <a:srgbClr val="334155"/>
                </a:solidFill>
              </a:rPr>
              <a:t>Load test: 30 workers hitting /api/products.</a:t>
            </a:r>
            <a:endParaRPr lang="en-US" sz="1100" dirty="0"/>
          </a:p>
          <a:p>
            <a:pPr indent="0" marL="0">
              <a:spcAft>
                <a:spcPts val="400"/>
              </a:spcAft>
              <a:buNone/>
            </a:pPr>
            <a:r>
              <a:rPr lang="en-US" sz="1100" dirty="0">
                <a:solidFill>
                  <a:srgbClr val="334155"/>
                </a:solidFill>
              </a:rPr>
              <a:t>CPU hit 446 % → scaled 2 → 4 in under a minute, back to 2 once load stopped.</a:t>
            </a:r>
            <a:endParaRPr lang="en-US" sz="1100" dirty="0"/>
          </a:p>
        </p:txBody>
      </p:sp>
      <p:pic>
        <p:nvPicPr>
          <p:cNvPr id="13" name="hpa-shot" descr="/Users/vibhutibhatnagar/Desktop/SST STUDY/DEVOPS CAPSTONE PROJECT/docs/screenshots/27-hpa-scaling.png">    </p:cNvPr>
          <p:cNvPicPr>
            <a:picLocks noChangeAspect="1"/>
          </p:cNvPicPr>
          <p:nvPr/>
        </p:nvPicPr>
        <p:blipFill>
          <a:blip r:embed="rId3"/>
          <a:stretch>
            <a:fillRect/>
          </a:stretch>
        </p:blipFill>
        <p:spPr>
          <a:xfrm>
            <a:off x="4297680" y="1143000"/>
            <a:ext cx="4389120" cy="3383280"/>
          </a:xfrm>
          <a:prstGeom prst="rect">
            <a:avLst/>
          </a:prstGeom>
          <a:effectLst>
            <a:outerShdw sx="100000" sy="100000" kx="0" ky="0" algn="bl" rotWithShape="0" blurRad="101600" dist="38100" dir="5400000">
              <a:srgbClr val="000000">
                <a:alpha val="25000"/>
              </a:srgbClr>
            </a:outerShdw>
          </a:effectLst>
        </p:spPr>
      </p:pic>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Observability: Prometheus + Grafana</a:t>
            </a:r>
            <a:endParaRPr lang="en-US" sz="2600" dirty="0"/>
          </a:p>
        </p:txBody>
      </p:sp>
      <p:pic>
        <p:nvPicPr>
          <p:cNvPr id="3" name="grafana-shot" descr="/Users/vibhutibhatnagar/Desktop/SST STUDY/DEVOPS CAPSTONE PROJECT/docs/screenshots/26-grafana-dashboard.png">    </p:cNvPr>
          <p:cNvPicPr>
            <a:picLocks noChangeAspect="1"/>
          </p:cNvPicPr>
          <p:nvPr/>
        </p:nvPicPr>
        <p:blipFill>
          <a:blip r:embed="rId1"/>
          <a:stretch>
            <a:fillRect/>
          </a:stretch>
        </p:blipFill>
        <p:spPr>
          <a:xfrm>
            <a:off x="457200" y="1143000"/>
            <a:ext cx="5394960" cy="3383280"/>
          </a:xfrm>
          <a:prstGeom prst="rect">
            <a:avLst/>
          </a:prstGeom>
          <a:effectLst>
            <a:outerShdw sx="100000" sy="100000" kx="0" ky="0" algn="bl" rotWithShape="0" blurRad="101600" dist="38100" dir="5400000">
              <a:srgbClr val="000000">
                <a:alpha val="25000"/>
              </a:srgbClr>
            </a:outerShdw>
          </a:effectLst>
        </p:spPr>
      </p:pic>
      <p:sp>
        <p:nvSpPr>
          <p:cNvPr id="4" name="obs-bullets"/>
          <p:cNvSpPr txBox="1"/>
          <p:nvPr/>
        </p:nvSpPr>
        <p:spPr>
          <a:xfrm>
            <a:off x="6035040" y="1143000"/>
            <a:ext cx="2651760"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rPr>
              <a:t>kube-prometheus-stack (Operator, Prometheus, Alertmanager, Grafana) from monitoring/ values</a:t>
            </a:r>
            <a:endParaRPr lang="en-US" sz="1100" dirty="0"/>
          </a:p>
          <a:p>
            <a:pPr marL="342900" indent="-342900">
              <a:spcAft>
                <a:spcPts val="600"/>
              </a:spcAft>
              <a:buSzPct val="100000"/>
              <a:buChar char="•"/>
            </a:pPr>
            <a:r>
              <a:rPr lang="en-US" sz="1100" dirty="0">
                <a:solidFill>
                  <a:srgbClr val="334155"/>
                </a:solidFill>
              </a:rPr>
              <a:t>ServiceMonitor in the chart → backend target UP in Prometheus (4/4 pods under load)</a:t>
            </a:r>
            <a:endParaRPr lang="en-US" sz="1100" dirty="0"/>
          </a:p>
          <a:p>
            <a:pPr marL="342900" indent="-342900">
              <a:spcAft>
                <a:spcPts val="600"/>
              </a:spcAft>
              <a:buSzPct val="100000"/>
              <a:buChar char="•"/>
            </a:pPr>
            <a:r>
              <a:rPr lang="en-US" sz="1100" dirty="0">
                <a:solidFill>
                  <a:srgbClr val="334155"/>
                </a:solidFill>
              </a:rPr>
              <a:t>/metrics: http_requests_total, latency histograms + business gauges: products, low stock, inventory value, movements</a:t>
            </a:r>
            <a:endParaRPr lang="en-US" sz="1100" dirty="0"/>
          </a:p>
          <a:p>
            <a:pPr marL="342900" indent="-342900">
              <a:spcAft>
                <a:spcPts val="600"/>
              </a:spcAft>
              <a:buSzPct val="100000"/>
              <a:buChar char="•"/>
            </a:pPr>
            <a:r>
              <a:rPr lang="en-US" sz="1100" dirty="0">
                <a:solidFill>
                  <a:srgbClr val="334155"/>
                </a:solidFill>
              </a:rPr>
              <a:t>Dashboard provisioned from a ConfigMap: request rate, p50/p95/p99, 5xx ratio, CPU vs request, HPA replicas</a:t>
            </a:r>
            <a:endParaRPr lang="en-US" sz="1100" dirty="0"/>
          </a:p>
          <a:p>
            <a:pPr marL="342900" indent="-342900">
              <a:spcAft>
                <a:spcPts val="600"/>
              </a:spcAft>
              <a:buSzPct val="100000"/>
              <a:buChar char="•"/>
            </a:pPr>
            <a:r>
              <a:rPr lang="en-US" sz="1100" dirty="0">
                <a:solidFill>
                  <a:srgbClr val="334155"/>
                </a:solidFill>
              </a:rPr>
              <a:t>PrometheusRule alerts: backend down, error rate &gt; 5 %, p95 &gt; 500 ms, reorder backlog</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Troubleshooting lab: break, diagnose, fix</a:t>
            </a:r>
            <a:endParaRPr lang="en-US" sz="2600" dirty="0"/>
          </a:p>
        </p:txBody>
      </p:sp>
      <p:sp>
        <p:nvSpPr>
          <p:cNvPr id="3" name="card-ImagePullBackOff"/>
          <p:cNvSpPr/>
          <p:nvPr/>
        </p:nvSpPr>
        <p:spPr>
          <a:xfrm>
            <a:off x="457200" y="1143000"/>
            <a:ext cx="2560320" cy="2743200"/>
          </a:xfrm>
          <a:prstGeom prst="roundRect">
            <a:avLst>
              <a:gd name="adj" fmla="val 4286"/>
            </a:avLst>
          </a:prstGeom>
          <a:solidFill>
            <a:srgbClr val="EEF2F8"/>
          </a:solidFill>
          <a:ln w="12700">
            <a:solidFill>
              <a:srgbClr val="EEF2F8"/>
            </a:solidFill>
            <a:prstDash val="solid"/>
          </a:ln>
        </p:spPr>
      </p:sp>
      <p:sp>
        <p:nvSpPr>
          <p:cNvPr id="4" name="icon-bg-bug"/>
          <p:cNvSpPr/>
          <p:nvPr/>
        </p:nvSpPr>
        <p:spPr>
          <a:xfrm>
            <a:off x="640080" y="1325880"/>
            <a:ext cx="457200" cy="457200"/>
          </a:xfrm>
          <a:prstGeom prst="ellipse">
            <a:avLst/>
          </a:prstGeom>
          <a:solidFill>
            <a:srgbClr val="DC2626"/>
          </a:solidFill>
          <a:ln w="12700">
            <a:solidFill>
              <a:srgbClr val="DC2626"/>
            </a:solidFill>
            <a:prstDash val="solid"/>
          </a:ln>
        </p:spPr>
      </p:sp>
      <p:pic>
        <p:nvPicPr>
          <p:cNvPr id="5" name="icon-bug"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card-title-ImagePullBackOff"/>
          <p:cNvSpPr txBox="1"/>
          <p:nvPr/>
        </p:nvSpPr>
        <p:spPr>
          <a:xfrm>
            <a:off x="1234440" y="132588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ImagePullBackOff</a:t>
            </a:r>
            <a:endParaRPr lang="en-US" sz="1400" dirty="0"/>
          </a:p>
        </p:txBody>
      </p:sp>
      <p:sp>
        <p:nvSpPr>
          <p:cNvPr id="7" name="card-body-ImagePullBackOff"/>
          <p:cNvSpPr txBox="1"/>
          <p:nvPr/>
        </p:nvSpPr>
        <p:spPr>
          <a:xfrm>
            <a:off x="640080" y="1874520"/>
            <a:ext cx="2194560" cy="187452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Symptom: Pod never starts.</a:t>
            </a:r>
            <a:endParaRPr lang="en-US" sz="1100" dirty="0"/>
          </a:p>
          <a:p>
            <a:pPr indent="0" marL="0">
              <a:spcAft>
                <a:spcPts val="400"/>
              </a:spcAft>
              <a:buNone/>
            </a:pPr>
            <a:r>
              <a:rPr lang="en-US" sz="1100" dirty="0">
                <a:solidFill>
                  <a:srgbClr val="334155"/>
                </a:solidFill>
              </a:rPr>
              <a:t>Signal: kubectl describe pod → Failed to pull image, tag does not exist.</a:t>
            </a:r>
            <a:endParaRPr lang="en-US" sz="1100" dirty="0"/>
          </a:p>
          <a:p>
            <a:pPr indent="0" marL="0">
              <a:spcAft>
                <a:spcPts val="400"/>
              </a:spcAft>
              <a:buNone/>
            </a:pPr>
            <a:r>
              <a:rPr lang="en-US" sz="1100" dirty="0">
                <a:solidFill>
                  <a:srgbClr val="334155"/>
                </a:solidFill>
              </a:rPr>
              <a:t>Fix: kubectl set image to a valid tag; Pod goes Running.</a:t>
            </a:r>
            <a:endParaRPr lang="en-US" sz="1100" dirty="0"/>
          </a:p>
        </p:txBody>
      </p:sp>
      <p:sp>
        <p:nvSpPr>
          <p:cNvPr id="8" name="card-Service with no endpoints"/>
          <p:cNvSpPr/>
          <p:nvPr/>
        </p:nvSpPr>
        <p:spPr>
          <a:xfrm>
            <a:off x="3291840" y="1143000"/>
            <a:ext cx="2560320" cy="2743200"/>
          </a:xfrm>
          <a:prstGeom prst="roundRect">
            <a:avLst>
              <a:gd name="adj" fmla="val 4286"/>
            </a:avLst>
          </a:prstGeom>
          <a:solidFill>
            <a:srgbClr val="EEF2F8"/>
          </a:solidFill>
          <a:ln w="12700">
            <a:solidFill>
              <a:srgbClr val="EEF2F8"/>
            </a:solidFill>
            <a:prstDash val="solid"/>
          </a:ln>
        </p:spPr>
      </p:sp>
      <p:sp>
        <p:nvSpPr>
          <p:cNvPr id="9" name="icon-bg-network"/>
          <p:cNvSpPr/>
          <p:nvPr/>
        </p:nvSpPr>
        <p:spPr>
          <a:xfrm>
            <a:off x="3474720" y="1325880"/>
            <a:ext cx="457200" cy="457200"/>
          </a:xfrm>
          <a:prstGeom prst="ellipse">
            <a:avLst/>
          </a:prstGeom>
          <a:solidFill>
            <a:srgbClr val="D97706"/>
          </a:solidFill>
          <a:ln w="12700">
            <a:solidFill>
              <a:srgbClr val="D97706"/>
            </a:solidFill>
            <a:prstDash val="solid"/>
          </a:ln>
        </p:spPr>
      </p:sp>
      <p:pic>
        <p:nvPicPr>
          <p:cNvPr id="10" name="icon-network" descr="preencoded.png">    </p:cNvPr>
          <p:cNvPicPr>
            <a:picLocks noChangeAspect="1"/>
          </p:cNvPicPr>
          <p:nvPr/>
        </p:nvPicPr>
        <p:blipFill>
          <a:blip r:embed="rId2"/>
          <a:stretch>
            <a:fillRect/>
          </a:stretch>
        </p:blipFill>
        <p:spPr>
          <a:xfrm>
            <a:off x="3589020" y="1440180"/>
            <a:ext cx="228600" cy="228600"/>
          </a:xfrm>
          <a:prstGeom prst="rect">
            <a:avLst/>
          </a:prstGeom>
        </p:spPr>
      </p:pic>
      <p:sp>
        <p:nvSpPr>
          <p:cNvPr id="11" name="card-title-Service with no endpoints"/>
          <p:cNvSpPr txBox="1"/>
          <p:nvPr/>
        </p:nvSpPr>
        <p:spPr>
          <a:xfrm>
            <a:off x="4069080" y="132588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Service with no endpoints</a:t>
            </a:r>
            <a:endParaRPr lang="en-US" sz="1400" dirty="0"/>
          </a:p>
        </p:txBody>
      </p:sp>
      <p:sp>
        <p:nvSpPr>
          <p:cNvPr id="12" name="card-body-Service with no endpoints"/>
          <p:cNvSpPr txBox="1"/>
          <p:nvPr/>
        </p:nvSpPr>
        <p:spPr>
          <a:xfrm>
            <a:off x="3474720" y="1874520"/>
            <a:ext cx="2194560" cy="187452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Symptom: requests time out.</a:t>
            </a:r>
            <a:endParaRPr lang="en-US" sz="1100" dirty="0"/>
          </a:p>
          <a:p>
            <a:pPr indent="0" marL="0">
              <a:spcAft>
                <a:spcPts val="400"/>
              </a:spcAft>
              <a:buNone/>
            </a:pPr>
            <a:r>
              <a:rPr lang="en-US" sz="1100" dirty="0">
                <a:solidFill>
                  <a:srgbClr val="334155"/>
                </a:solidFill>
              </a:rPr>
              <a:t>Signal: kubectl get endpoints → &lt;none&gt;; selector says component=backend-typo, Pods carry component=backend.</a:t>
            </a:r>
            <a:endParaRPr lang="en-US" sz="1100" dirty="0"/>
          </a:p>
          <a:p>
            <a:pPr indent="0" marL="0">
              <a:spcAft>
                <a:spcPts val="400"/>
              </a:spcAft>
              <a:buNone/>
            </a:pPr>
            <a:r>
              <a:rPr lang="en-US" sz="1100" dirty="0">
                <a:solidFill>
                  <a:srgbClr val="334155"/>
                </a:solidFill>
              </a:rPr>
              <a:t>Fix: patch the selector; endpoints appear instantly.</a:t>
            </a:r>
            <a:endParaRPr lang="en-US" sz="1100" dirty="0"/>
          </a:p>
        </p:txBody>
      </p:sp>
      <p:sp>
        <p:nvSpPr>
          <p:cNvPr id="13" name="card-CrashLoopBackOff"/>
          <p:cNvSpPr/>
          <p:nvPr/>
        </p:nvSpPr>
        <p:spPr>
          <a:xfrm>
            <a:off x="6126480" y="1143000"/>
            <a:ext cx="2560320" cy="2743200"/>
          </a:xfrm>
          <a:prstGeom prst="roundRect">
            <a:avLst>
              <a:gd name="adj" fmla="val 4286"/>
            </a:avLst>
          </a:prstGeom>
          <a:solidFill>
            <a:srgbClr val="EEF2F8"/>
          </a:solidFill>
          <a:ln w="12700">
            <a:solidFill>
              <a:srgbClr val="EEF2F8"/>
            </a:solidFill>
            <a:prstDash val="solid"/>
          </a:ln>
        </p:spPr>
      </p:sp>
      <p:sp>
        <p:nvSpPr>
          <p:cNvPr id="14" name="icon-bg-wrench"/>
          <p:cNvSpPr/>
          <p:nvPr/>
        </p:nvSpPr>
        <p:spPr>
          <a:xfrm>
            <a:off x="6309360" y="1325880"/>
            <a:ext cx="457200" cy="457200"/>
          </a:xfrm>
          <a:prstGeom prst="ellipse">
            <a:avLst/>
          </a:prstGeom>
          <a:solidFill>
            <a:srgbClr val="7C3AED"/>
          </a:solidFill>
          <a:ln w="12700">
            <a:solidFill>
              <a:srgbClr val="7C3AED"/>
            </a:solidFill>
            <a:prstDash val="solid"/>
          </a:ln>
        </p:spPr>
      </p:sp>
      <p:pic>
        <p:nvPicPr>
          <p:cNvPr id="15" name="icon-wrench" descr="preencoded.png">    </p:cNvPr>
          <p:cNvPicPr>
            <a:picLocks noChangeAspect="1"/>
          </p:cNvPicPr>
          <p:nvPr/>
        </p:nvPicPr>
        <p:blipFill>
          <a:blip r:embed="rId3"/>
          <a:stretch>
            <a:fillRect/>
          </a:stretch>
        </p:blipFill>
        <p:spPr>
          <a:xfrm>
            <a:off x="6423660" y="1440180"/>
            <a:ext cx="228600" cy="228600"/>
          </a:xfrm>
          <a:prstGeom prst="rect">
            <a:avLst/>
          </a:prstGeom>
        </p:spPr>
      </p:pic>
      <p:sp>
        <p:nvSpPr>
          <p:cNvPr id="16" name="card-title-CrashLoopBackOff"/>
          <p:cNvSpPr txBox="1"/>
          <p:nvPr/>
        </p:nvSpPr>
        <p:spPr>
          <a:xfrm>
            <a:off x="6903720" y="132588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CrashLoopBackOff</a:t>
            </a:r>
            <a:endParaRPr lang="en-US" sz="1400" dirty="0"/>
          </a:p>
        </p:txBody>
      </p:sp>
      <p:sp>
        <p:nvSpPr>
          <p:cNvPr id="17" name="card-body-CrashLoopBackOff"/>
          <p:cNvSpPr txBox="1"/>
          <p:nvPr/>
        </p:nvSpPr>
        <p:spPr>
          <a:xfrm>
            <a:off x="6309360" y="1874520"/>
            <a:ext cx="2194560" cy="1874520"/>
          </a:xfrm>
          <a:prstGeom prst="rect">
            <a:avLst/>
          </a:prstGeom>
          <a:noFill/>
          <a:ln/>
        </p:spPr>
        <p:txBody>
          <a:bodyPr wrap="square" lIns="0" tIns="0" rIns="0" bIns="0" rtlCol="0" anchor="t"/>
          <a:lstStyle/>
          <a:p>
            <a:pPr indent="0" marL="0">
              <a:spcAft>
                <a:spcPts val="400"/>
              </a:spcAft>
              <a:buNone/>
            </a:pPr>
            <a:r>
              <a:rPr lang="en-US" sz="1100" dirty="0">
                <a:solidFill>
                  <a:srgbClr val="334155"/>
                </a:solidFill>
              </a:rPr>
              <a:t>Symptom: restarts climbing.</a:t>
            </a:r>
            <a:endParaRPr lang="en-US" sz="1100" dirty="0"/>
          </a:p>
          <a:p>
            <a:pPr indent="0" marL="0">
              <a:spcAft>
                <a:spcPts val="400"/>
              </a:spcAft>
              <a:buNone/>
            </a:pPr>
            <a:r>
              <a:rPr lang="en-US" sz="1100" dirty="0">
                <a:solidFill>
                  <a:srgbClr val="334155"/>
                </a:solidFill>
              </a:rPr>
              <a:t>Signal: kubectl logs → could not resolve host no-such-database; migrations give up, container exits 1.</a:t>
            </a:r>
            <a:endParaRPr lang="en-US" sz="1100" dirty="0"/>
          </a:p>
          <a:p>
            <a:pPr indent="0" marL="0">
              <a:spcAft>
                <a:spcPts val="400"/>
              </a:spcAft>
              <a:buNone/>
            </a:pPr>
            <a:r>
              <a:rPr lang="en-US" sz="1100" dirty="0">
                <a:solidFill>
                  <a:srgbClr val="334155"/>
                </a:solidFill>
              </a:rPr>
              <a:t>Fix: point DATABASE_URL at the stockpilot-postgres Service.</a:t>
            </a:r>
            <a:endParaRPr lang="en-US" sz="1100" dirty="0"/>
          </a:p>
        </p:txBody>
      </p:sp>
      <p:sp>
        <p:nvSpPr>
          <p:cNvPr id="18" name="ts-order"/>
          <p:cNvSpPr txBox="1"/>
          <p:nvPr/>
        </p:nvSpPr>
        <p:spPr>
          <a:xfrm>
            <a:off x="457200" y="4069080"/>
            <a:ext cx="8229600" cy="365760"/>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Investigation order: get pods → describe pod → logs (--previous) → get svc,endpoints → get events --sort-by=.lastTimestamp</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losing-title"/>
          <p:cNvSpPr txBox="1"/>
          <p:nvPr/>
        </p:nvSpPr>
        <p:spPr>
          <a:xfrm>
            <a:off x="548640" y="502920"/>
            <a:ext cx="8046720" cy="640080"/>
          </a:xfrm>
          <a:prstGeom prst="rect">
            <a:avLst/>
          </a:prstGeom>
          <a:noFill/>
          <a:ln/>
        </p:spPr>
        <p:txBody>
          <a:bodyPr wrap="square" lIns="0" tIns="0" rIns="0" bIns="0" rtlCol="0" anchor="ctr"/>
          <a:lstStyle/>
          <a:p>
            <a:pPr indent="0" marL="0">
              <a:buNone/>
            </a:pPr>
            <a:r>
              <a:rPr lang="en-US" sz="3200" b="1" dirty="0">
                <a:solidFill>
                  <a:schemeClr val="bg1"/>
                </a:solidFill>
              </a:rPr>
              <a:t>Demo flow and takeaways</a:t>
            </a:r>
            <a:endParaRPr lang="en-US" sz="3200" dirty="0"/>
          </a:p>
        </p:txBody>
      </p:sp>
      <p:sp>
        <p:nvSpPr>
          <p:cNvPr id="3" name="flow-0"/>
          <p:cNvSpPr/>
          <p:nvPr/>
        </p:nvSpPr>
        <p:spPr>
          <a:xfrm>
            <a:off x="548640" y="1371600"/>
            <a:ext cx="1051560" cy="502920"/>
          </a:xfrm>
          <a:prstGeom prst="roundRect">
            <a:avLst>
              <a:gd name="adj" fmla="val 14545"/>
            </a:avLst>
          </a:prstGeom>
          <a:solidFill>
            <a:srgbClr val="1E293B"/>
          </a:solidFill>
          <a:ln w="12700">
            <a:solidFill>
              <a:srgbClr val="334155"/>
            </a:solidFill>
            <a:prstDash val="solid"/>
          </a:ln>
        </p:spPr>
      </p:sp>
      <p:sp>
        <p:nvSpPr>
          <p:cNvPr id="4" name="flow-text-0"/>
          <p:cNvSpPr txBox="1"/>
          <p:nvPr/>
        </p:nvSpPr>
        <p:spPr>
          <a:xfrm>
            <a:off x="594360"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1. Application</a:t>
            </a:r>
            <a:endParaRPr lang="en-US" sz="950" dirty="0"/>
          </a:p>
        </p:txBody>
      </p:sp>
      <p:sp>
        <p:nvSpPr>
          <p:cNvPr id="5" name="flow-1"/>
          <p:cNvSpPr/>
          <p:nvPr/>
        </p:nvSpPr>
        <p:spPr>
          <a:xfrm>
            <a:off x="1709928" y="1371600"/>
            <a:ext cx="1051560" cy="502920"/>
          </a:xfrm>
          <a:prstGeom prst="roundRect">
            <a:avLst>
              <a:gd name="adj" fmla="val 14545"/>
            </a:avLst>
          </a:prstGeom>
          <a:solidFill>
            <a:srgbClr val="1E293B"/>
          </a:solidFill>
          <a:ln w="12700">
            <a:solidFill>
              <a:srgbClr val="334155"/>
            </a:solidFill>
            <a:prstDash val="solid"/>
          </a:ln>
        </p:spPr>
      </p:sp>
      <p:sp>
        <p:nvSpPr>
          <p:cNvPr id="6" name="flow-text-1"/>
          <p:cNvSpPr txBox="1"/>
          <p:nvPr/>
        </p:nvSpPr>
        <p:spPr>
          <a:xfrm>
            <a:off x="1755648"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2. Git commit</a:t>
            </a:r>
            <a:endParaRPr lang="en-US" sz="950" dirty="0"/>
          </a:p>
        </p:txBody>
      </p:sp>
      <p:sp>
        <p:nvSpPr>
          <p:cNvPr id="7" name="flow-2"/>
          <p:cNvSpPr/>
          <p:nvPr/>
        </p:nvSpPr>
        <p:spPr>
          <a:xfrm>
            <a:off x="2871216" y="1371600"/>
            <a:ext cx="1051560" cy="502920"/>
          </a:xfrm>
          <a:prstGeom prst="roundRect">
            <a:avLst>
              <a:gd name="adj" fmla="val 14545"/>
            </a:avLst>
          </a:prstGeom>
          <a:solidFill>
            <a:srgbClr val="1E293B"/>
          </a:solidFill>
          <a:ln w="12700">
            <a:solidFill>
              <a:srgbClr val="334155"/>
            </a:solidFill>
            <a:prstDash val="solid"/>
          </a:ln>
        </p:spPr>
      </p:sp>
      <p:sp>
        <p:nvSpPr>
          <p:cNvPr id="8" name="flow-text-2"/>
          <p:cNvSpPr txBox="1"/>
          <p:nvPr/>
        </p:nvSpPr>
        <p:spPr>
          <a:xfrm>
            <a:off x="2916936"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3. CI pipeline</a:t>
            </a:r>
            <a:endParaRPr lang="en-US" sz="950" dirty="0"/>
          </a:p>
        </p:txBody>
      </p:sp>
      <p:sp>
        <p:nvSpPr>
          <p:cNvPr id="9" name="flow-3"/>
          <p:cNvSpPr/>
          <p:nvPr/>
        </p:nvSpPr>
        <p:spPr>
          <a:xfrm>
            <a:off x="4032504" y="1371600"/>
            <a:ext cx="1051560" cy="502920"/>
          </a:xfrm>
          <a:prstGeom prst="roundRect">
            <a:avLst>
              <a:gd name="adj" fmla="val 14545"/>
            </a:avLst>
          </a:prstGeom>
          <a:solidFill>
            <a:srgbClr val="1E293B"/>
          </a:solidFill>
          <a:ln w="12700">
            <a:solidFill>
              <a:srgbClr val="334155"/>
            </a:solidFill>
            <a:prstDash val="solid"/>
          </a:ln>
        </p:spPr>
      </p:sp>
      <p:sp>
        <p:nvSpPr>
          <p:cNvPr id="10" name="flow-text-3"/>
          <p:cNvSpPr txBox="1"/>
          <p:nvPr/>
        </p:nvSpPr>
        <p:spPr>
          <a:xfrm>
            <a:off x="4078224"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4. Docker image</a:t>
            </a:r>
            <a:endParaRPr lang="en-US" sz="950" dirty="0"/>
          </a:p>
        </p:txBody>
      </p:sp>
      <p:sp>
        <p:nvSpPr>
          <p:cNvPr id="11" name="flow-4"/>
          <p:cNvSpPr/>
          <p:nvPr/>
        </p:nvSpPr>
        <p:spPr>
          <a:xfrm>
            <a:off x="5193792" y="1371600"/>
            <a:ext cx="1051560" cy="502920"/>
          </a:xfrm>
          <a:prstGeom prst="roundRect">
            <a:avLst>
              <a:gd name="adj" fmla="val 14545"/>
            </a:avLst>
          </a:prstGeom>
          <a:solidFill>
            <a:srgbClr val="1E293B"/>
          </a:solidFill>
          <a:ln w="12700">
            <a:solidFill>
              <a:srgbClr val="334155"/>
            </a:solidFill>
            <a:prstDash val="solid"/>
          </a:ln>
        </p:spPr>
      </p:sp>
      <p:sp>
        <p:nvSpPr>
          <p:cNvPr id="12" name="flow-text-4"/>
          <p:cNvSpPr txBox="1"/>
          <p:nvPr/>
        </p:nvSpPr>
        <p:spPr>
          <a:xfrm>
            <a:off x="5239512"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5. Trivy scan</a:t>
            </a:r>
            <a:endParaRPr lang="en-US" sz="950" dirty="0"/>
          </a:p>
        </p:txBody>
      </p:sp>
      <p:sp>
        <p:nvSpPr>
          <p:cNvPr id="13" name="flow-5"/>
          <p:cNvSpPr/>
          <p:nvPr/>
        </p:nvSpPr>
        <p:spPr>
          <a:xfrm>
            <a:off x="6355080" y="1371600"/>
            <a:ext cx="1051560" cy="502920"/>
          </a:xfrm>
          <a:prstGeom prst="roundRect">
            <a:avLst>
              <a:gd name="adj" fmla="val 14545"/>
            </a:avLst>
          </a:prstGeom>
          <a:solidFill>
            <a:srgbClr val="1E293B"/>
          </a:solidFill>
          <a:ln w="12700">
            <a:solidFill>
              <a:srgbClr val="334155"/>
            </a:solidFill>
            <a:prstDash val="solid"/>
          </a:ln>
        </p:spPr>
      </p:sp>
      <p:sp>
        <p:nvSpPr>
          <p:cNvPr id="14" name="flow-text-5"/>
          <p:cNvSpPr txBox="1"/>
          <p:nvPr/>
        </p:nvSpPr>
        <p:spPr>
          <a:xfrm>
            <a:off x="6400800"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6. Registry</a:t>
            </a:r>
            <a:endParaRPr lang="en-US" sz="950" dirty="0"/>
          </a:p>
        </p:txBody>
      </p:sp>
      <p:sp>
        <p:nvSpPr>
          <p:cNvPr id="15" name="flow-6"/>
          <p:cNvSpPr/>
          <p:nvPr/>
        </p:nvSpPr>
        <p:spPr>
          <a:xfrm>
            <a:off x="7516368" y="1371600"/>
            <a:ext cx="1051560" cy="502920"/>
          </a:xfrm>
          <a:prstGeom prst="roundRect">
            <a:avLst>
              <a:gd name="adj" fmla="val 14545"/>
            </a:avLst>
          </a:prstGeom>
          <a:solidFill>
            <a:srgbClr val="1E293B"/>
          </a:solidFill>
          <a:ln w="12700">
            <a:solidFill>
              <a:srgbClr val="334155"/>
            </a:solidFill>
            <a:prstDash val="solid"/>
          </a:ln>
        </p:spPr>
      </p:sp>
      <p:sp>
        <p:nvSpPr>
          <p:cNvPr id="16" name="flow-text-6"/>
          <p:cNvSpPr txBox="1"/>
          <p:nvPr/>
        </p:nvSpPr>
        <p:spPr>
          <a:xfrm>
            <a:off x="7562088" y="13716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7. Terraform</a:t>
            </a:r>
            <a:endParaRPr lang="en-US" sz="950" dirty="0"/>
          </a:p>
        </p:txBody>
      </p:sp>
      <p:sp>
        <p:nvSpPr>
          <p:cNvPr id="17" name="flow-7"/>
          <p:cNvSpPr/>
          <p:nvPr/>
        </p:nvSpPr>
        <p:spPr>
          <a:xfrm>
            <a:off x="548640" y="2057400"/>
            <a:ext cx="1051560" cy="502920"/>
          </a:xfrm>
          <a:prstGeom prst="roundRect">
            <a:avLst>
              <a:gd name="adj" fmla="val 14545"/>
            </a:avLst>
          </a:prstGeom>
          <a:solidFill>
            <a:srgbClr val="1E293B"/>
          </a:solidFill>
          <a:ln w="12700">
            <a:solidFill>
              <a:srgbClr val="334155"/>
            </a:solidFill>
            <a:prstDash val="solid"/>
          </a:ln>
        </p:spPr>
      </p:sp>
      <p:sp>
        <p:nvSpPr>
          <p:cNvPr id="18" name="flow-text-7"/>
          <p:cNvSpPr txBox="1"/>
          <p:nvPr/>
        </p:nvSpPr>
        <p:spPr>
          <a:xfrm>
            <a:off x="594360" y="20574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8. Kubernetes</a:t>
            </a:r>
            <a:endParaRPr lang="en-US" sz="950" dirty="0"/>
          </a:p>
        </p:txBody>
      </p:sp>
      <p:sp>
        <p:nvSpPr>
          <p:cNvPr id="19" name="flow-8"/>
          <p:cNvSpPr/>
          <p:nvPr/>
        </p:nvSpPr>
        <p:spPr>
          <a:xfrm>
            <a:off x="1709928" y="2057400"/>
            <a:ext cx="1051560" cy="502920"/>
          </a:xfrm>
          <a:prstGeom prst="roundRect">
            <a:avLst>
              <a:gd name="adj" fmla="val 14545"/>
            </a:avLst>
          </a:prstGeom>
          <a:solidFill>
            <a:srgbClr val="1E293B"/>
          </a:solidFill>
          <a:ln w="12700">
            <a:solidFill>
              <a:srgbClr val="334155"/>
            </a:solidFill>
            <a:prstDash val="solid"/>
          </a:ln>
        </p:spPr>
      </p:sp>
      <p:sp>
        <p:nvSpPr>
          <p:cNvPr id="20" name="flow-text-8"/>
          <p:cNvSpPr txBox="1"/>
          <p:nvPr/>
        </p:nvSpPr>
        <p:spPr>
          <a:xfrm>
            <a:off x="1755648" y="20574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9. Helm</a:t>
            </a:r>
            <a:endParaRPr lang="en-US" sz="950" dirty="0"/>
          </a:p>
        </p:txBody>
      </p:sp>
      <p:sp>
        <p:nvSpPr>
          <p:cNvPr id="21" name="flow-9"/>
          <p:cNvSpPr/>
          <p:nvPr/>
        </p:nvSpPr>
        <p:spPr>
          <a:xfrm>
            <a:off x="2871216" y="2057400"/>
            <a:ext cx="1051560" cy="502920"/>
          </a:xfrm>
          <a:prstGeom prst="roundRect">
            <a:avLst>
              <a:gd name="adj" fmla="val 14545"/>
            </a:avLst>
          </a:prstGeom>
          <a:solidFill>
            <a:srgbClr val="1E293B"/>
          </a:solidFill>
          <a:ln w="12700">
            <a:solidFill>
              <a:srgbClr val="334155"/>
            </a:solidFill>
            <a:prstDash val="solid"/>
          </a:ln>
        </p:spPr>
      </p:sp>
      <p:sp>
        <p:nvSpPr>
          <p:cNvPr id="22" name="flow-text-9"/>
          <p:cNvSpPr txBox="1"/>
          <p:nvPr/>
        </p:nvSpPr>
        <p:spPr>
          <a:xfrm>
            <a:off x="2916936" y="20574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10. Ingress</a:t>
            </a:r>
            <a:endParaRPr lang="en-US" sz="950" dirty="0"/>
          </a:p>
        </p:txBody>
      </p:sp>
      <p:sp>
        <p:nvSpPr>
          <p:cNvPr id="23" name="flow-10"/>
          <p:cNvSpPr/>
          <p:nvPr/>
        </p:nvSpPr>
        <p:spPr>
          <a:xfrm>
            <a:off x="4032504" y="2057400"/>
            <a:ext cx="1051560" cy="502920"/>
          </a:xfrm>
          <a:prstGeom prst="roundRect">
            <a:avLst>
              <a:gd name="adj" fmla="val 14545"/>
            </a:avLst>
          </a:prstGeom>
          <a:solidFill>
            <a:srgbClr val="1E293B"/>
          </a:solidFill>
          <a:ln w="12700">
            <a:solidFill>
              <a:srgbClr val="334155"/>
            </a:solidFill>
            <a:prstDash val="solid"/>
          </a:ln>
        </p:spPr>
      </p:sp>
      <p:sp>
        <p:nvSpPr>
          <p:cNvPr id="24" name="flow-text-10"/>
          <p:cNvSpPr txBox="1"/>
          <p:nvPr/>
        </p:nvSpPr>
        <p:spPr>
          <a:xfrm>
            <a:off x="4078224" y="20574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11. Autoscaling</a:t>
            </a:r>
            <a:endParaRPr lang="en-US" sz="950" dirty="0"/>
          </a:p>
        </p:txBody>
      </p:sp>
      <p:sp>
        <p:nvSpPr>
          <p:cNvPr id="25" name="flow-11"/>
          <p:cNvSpPr/>
          <p:nvPr/>
        </p:nvSpPr>
        <p:spPr>
          <a:xfrm>
            <a:off x="5193792" y="2057400"/>
            <a:ext cx="1051560" cy="502920"/>
          </a:xfrm>
          <a:prstGeom prst="roundRect">
            <a:avLst>
              <a:gd name="adj" fmla="val 14545"/>
            </a:avLst>
          </a:prstGeom>
          <a:solidFill>
            <a:srgbClr val="1E293B"/>
          </a:solidFill>
          <a:ln w="12700">
            <a:solidFill>
              <a:srgbClr val="334155"/>
            </a:solidFill>
            <a:prstDash val="solid"/>
          </a:ln>
        </p:spPr>
      </p:sp>
      <p:sp>
        <p:nvSpPr>
          <p:cNvPr id="26" name="flow-text-11"/>
          <p:cNvSpPr txBox="1"/>
          <p:nvPr/>
        </p:nvSpPr>
        <p:spPr>
          <a:xfrm>
            <a:off x="5239512" y="20574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12. Monitoring</a:t>
            </a:r>
            <a:endParaRPr lang="en-US" sz="950" dirty="0"/>
          </a:p>
        </p:txBody>
      </p:sp>
      <p:sp>
        <p:nvSpPr>
          <p:cNvPr id="27" name="flow-12"/>
          <p:cNvSpPr/>
          <p:nvPr/>
        </p:nvSpPr>
        <p:spPr>
          <a:xfrm>
            <a:off x="6355080" y="2057400"/>
            <a:ext cx="1051560" cy="502920"/>
          </a:xfrm>
          <a:prstGeom prst="roundRect">
            <a:avLst>
              <a:gd name="adj" fmla="val 14545"/>
            </a:avLst>
          </a:prstGeom>
          <a:solidFill>
            <a:srgbClr val="1E293B"/>
          </a:solidFill>
          <a:ln w="12700">
            <a:solidFill>
              <a:srgbClr val="334155"/>
            </a:solidFill>
            <a:prstDash val="solid"/>
          </a:ln>
        </p:spPr>
      </p:sp>
      <p:sp>
        <p:nvSpPr>
          <p:cNvPr id="28" name="flow-text-12"/>
          <p:cNvSpPr txBox="1"/>
          <p:nvPr/>
        </p:nvSpPr>
        <p:spPr>
          <a:xfrm>
            <a:off x="6400800" y="2057400"/>
            <a:ext cx="960120" cy="502920"/>
          </a:xfrm>
          <a:prstGeom prst="rect">
            <a:avLst/>
          </a:prstGeom>
          <a:noFill/>
          <a:ln/>
        </p:spPr>
        <p:txBody>
          <a:bodyPr wrap="square" lIns="0" tIns="0" rIns="0" bIns="0" rtlCol="0" anchor="ctr"/>
          <a:lstStyle/>
          <a:p>
            <a:pPr algn="ctr" indent="0" marL="0">
              <a:buNone/>
            </a:pPr>
            <a:r>
              <a:rPr lang="en-US" sz="950" b="1" dirty="0">
                <a:solidFill>
                  <a:srgbClr val="E2E8F0"/>
                </a:solidFill>
              </a:rPr>
              <a:t>13. Troubleshoot</a:t>
            </a:r>
            <a:endParaRPr lang="en-US" sz="950" dirty="0"/>
          </a:p>
        </p:txBody>
      </p:sp>
      <p:sp>
        <p:nvSpPr>
          <p:cNvPr id="29" name="takeaways"/>
          <p:cNvSpPr txBox="1"/>
          <p:nvPr/>
        </p:nvSpPr>
        <p:spPr>
          <a:xfrm>
            <a:off x="548640" y="2880360"/>
            <a:ext cx="8046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CBD5E1"/>
                </a:solidFill>
              </a:rPr>
              <a:t>Quality gates before promotion: lint and tests stop broken code; Trivy stops vulnerable images</a:t>
            </a:r>
            <a:endParaRPr lang="en-US" sz="1300" dirty="0"/>
          </a:p>
          <a:p>
            <a:pPr marL="342900" indent="-342900">
              <a:spcAft>
                <a:spcPts val="600"/>
              </a:spcAft>
              <a:buSzPct val="100000"/>
              <a:buChar char="•"/>
            </a:pPr>
            <a:r>
              <a:rPr lang="en-US" sz="1300" dirty="0">
                <a:solidFill>
                  <a:srgbClr val="CBD5E1"/>
                </a:solidFill>
              </a:rPr>
              <a:t>Immutable, traceable artefacts: image tag = commit SHA, chart values pin the exact build</a:t>
            </a:r>
            <a:endParaRPr lang="en-US" sz="1300" dirty="0"/>
          </a:p>
          <a:p>
            <a:pPr marL="342900" indent="-342900">
              <a:spcAft>
                <a:spcPts val="600"/>
              </a:spcAft>
              <a:buSzPct val="100000"/>
              <a:buChar char="•"/>
            </a:pPr>
            <a:r>
              <a:rPr lang="en-US" sz="1300" dirty="0">
                <a:solidFill>
                  <a:srgbClr val="CBD5E1"/>
                </a:solidFill>
              </a:rPr>
              <a:t>Everything is code: infrastructure (Terraform), packaging (Helm), monitoring (values, dashboards, rules)</a:t>
            </a:r>
            <a:endParaRPr lang="en-US" sz="1300" dirty="0"/>
          </a:p>
          <a:p>
            <a:pPr marL="342900" indent="-342900">
              <a:spcAft>
                <a:spcPts val="600"/>
              </a:spcAft>
              <a:buSzPct val="100000"/>
              <a:buChar char="•"/>
            </a:pPr>
            <a:r>
              <a:rPr lang="en-US" sz="1300" dirty="0">
                <a:solidFill>
                  <a:srgbClr val="CBD5E1"/>
                </a:solidFill>
              </a:rPr>
              <a:t>Observability and failure drills are part of delivery, not an afterthought</a:t>
            </a:r>
            <a:endParaRPr lang="en-US" sz="1300" dirty="0"/>
          </a:p>
        </p:txBody>
      </p:sp>
      <p:sp>
        <p:nvSpPr>
          <p:cNvPr id="30" name="thanks"/>
          <p:cNvSpPr txBox="1"/>
          <p:nvPr/>
        </p:nvSpPr>
        <p:spPr>
          <a:xfrm>
            <a:off x="548640" y="4434840"/>
            <a:ext cx="8046720" cy="320040"/>
          </a:xfrm>
          <a:prstGeom prst="rect">
            <a:avLst/>
          </a:prstGeom>
          <a:noFill/>
          <a:ln/>
        </p:spPr>
        <p:txBody>
          <a:bodyPr wrap="square" lIns="0" tIns="0" rIns="0" bIns="0" rtlCol="0" anchor="ctr"/>
          <a:lstStyle/>
          <a:p>
            <a:pPr indent="0" marL="0">
              <a:buNone/>
            </a:pPr>
            <a:r>
              <a:rPr lang="en-US" sz="1200" dirty="0">
                <a:solidFill>
                  <a:srgbClr val="93C5FD"/>
                </a:solidFill>
              </a:rPr>
              <a:t>Thank you  ·  Vibhuti Bhatnagar (24bcs10288)  ·  github.com/vibhuti-scaler/stockpilot</a:t>
            </a:r>
            <a:endParaRPr lang="en-US" sz="1200" dirty="0"/>
          </a:p>
        </p:txBody>
      </p:sp>
      <p:sp>
        <p:nvSpPr>
          <p:cNvPr id="32" name="Text 0"/>
          <p:cNvSpPr/>
          <p:nvPr>
            <p:ph idx="100" type="title" hasCustomPrompt="1"/>
          </p:nvPr>
        </p:nvSpPr>
        <p:spPr>
          <a:xfrm>
            <a:off x="548640" y="1097280"/>
            <a:ext cx="4480560" cy="1097280"/>
          </a:xfrm>
          <a:prstGeom prst="rect">
            <a:avLst/>
          </a:prstGeom>
          <a:noFill/>
          <a:ln/>
        </p:spPr>
        <p:txBody>
          <a:bodyPr wrap="square" lIns="0" tIns="0" rIns="0" bIns="0" rtlCol="0" anchor="b"/>
          <a:lstStyle/>
          <a:p>
            <a:pPr algn="l" indent="0" marL="0">
              <a:buNone/>
            </a:pPr>
            <a:endParaRPr lang="en-US" sz="4000" dirty="0"/>
          </a:p>
        </p:txBody>
      </p:sp>
      <p:sp>
        <p:nvSpPr>
          <p:cNvPr id="33" name="Text 0"/>
          <p:cNvSpPr/>
          <p:nvPr>
            <p:ph idx="101" type="body" hasCustomPrompt="1"/>
          </p:nvPr>
        </p:nvSpPr>
        <p:spPr>
          <a:xfrm>
            <a:off x="548640" y="2331720"/>
            <a:ext cx="4480560" cy="1280160"/>
          </a:xfrm>
          <a:prstGeom prst="rect">
            <a:avLst/>
          </a:prstGeom>
          <a:noFill/>
          <a:ln/>
        </p:spPr>
        <p:txBody>
          <a:bodyPr wrap="square" lIns="0" tIns="0" rIns="0" bIns="0" rtlCol="0" anchor="t"/>
          <a:lstStyle/>
          <a:p>
            <a:pPr algn="l" indent="0" marL="0">
              <a:buNone/>
            </a:pPr>
            <a:endParaRPr lang="en-US" sz="1400" dirty="0"/>
          </a:p>
        </p:txBody>
      </p:sp>
    </p:spTree>
  </p:cSld>
  <p:clrMapOvr>
    <a:masterClrMapping/>
  </p:clrMapOvr>
</p:sld>
</file>

<file path=ppt/theme/theme1.xml><?xml version="1.0" encoding="utf-8"?>
<a:theme xmlns:a="http://schemas.openxmlformats.org/drawingml/2006/main" name="StockPilot">
  <a:themeElements>
    <a:clrScheme name="StockPilot">
      <a:dk1>
        <a:srgbClr val="0F172A"/>
      </a:dk1>
      <a:lt1>
        <a:srgbClr val="FFFFFF"/>
      </a:lt1>
      <a:dk2>
        <a:srgbClr val="1E3A8A"/>
      </a:dk2>
      <a:lt2>
        <a:srgbClr val="EEF2F8"/>
      </a:lt2>
      <a:accent1>
        <a:srgbClr val="2563EB"/>
      </a:accent1>
      <a:accent2>
        <a:srgbClr val="16A34A"/>
      </a:accent2>
      <a:accent3>
        <a:srgbClr val="D97706"/>
      </a:accent3>
      <a:accent4>
        <a:srgbClr val="DC2626"/>
      </a:accent4>
      <a:accent5>
        <a:srgbClr val="0891B2"/>
      </a:accent5>
      <a:accent6>
        <a:srgbClr val="7C3AED"/>
      </a:accent6>
      <a:hlink>
        <a:srgbClr val="2563EB"/>
      </a:hlink>
      <a:folHlink>
        <a:srgbClr val="7C3AED"/>
      </a:folHlink>
    </a:clrScheme>
    <a:fontScheme name="Stock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DevOps Capstone</dc:title>
  <dc:subject>Inventory management on a production-style DevOps platform</dc:subject>
  <dc:creator>Vibhuti Bhatnagar</dc:creator>
  <cp:lastModifiedBy>Vibhuti Bhatnagar</cp:lastModifiedBy>
  <cp:revision>1</cp:revision>
  <dcterms:created xsi:type="dcterms:W3CDTF">2026-10-26T11:32:20Z</dcterms:created>
  <dcterms:modified xsi:type="dcterms:W3CDTF">2026-10-26T11:32:20Z</dcterms:modified>
</cp:coreProperties>
</file>